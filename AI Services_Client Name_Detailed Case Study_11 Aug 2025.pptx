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11"/>
  </p:notesMasterIdLst>
  <p:sldIdLst>
    <p:sldId id="2147480718" r:id="rId3"/>
    <p:sldId id="270" r:id="rId4"/>
    <p:sldId id="2147480719" r:id="rId5"/>
    <p:sldId id="2147480722" r:id="rId6"/>
    <p:sldId id="2147479062" r:id="rId7"/>
    <p:sldId id="2147480720" r:id="rId8"/>
    <p:sldId id="2147480723" r:id="rId9"/>
    <p:sldId id="214748071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7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EC78F3-3EED-4AD7-B224-21111883C646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0F9891-ECBB-4A57-BC5B-5DBAA3176A16}">
      <dgm:prSet phldrT="[Text]" custT="1"/>
      <dgm:spPr>
        <a:xfrm rot="5400000">
          <a:off x="-225246" y="228854"/>
          <a:ext cx="1501641" cy="1051149"/>
        </a:xfrm>
        <a:prstGeom prst="chevron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dirty="0">
              <a:solidFill>
                <a:sysClr val="window" lastClr="FFFFFF"/>
              </a:solidFill>
              <a:latin typeface="Source Sans Pro" panose="020B0503030403020204" pitchFamily="34" charset="0"/>
              <a:ea typeface="+mn-ea"/>
              <a:cs typeface="+mn-cs"/>
            </a:rPr>
            <a:t>Insurance Policy</a:t>
          </a:r>
        </a:p>
      </dgm:t>
    </dgm:pt>
    <dgm:pt modelId="{8C13A621-BEE9-4F3A-9659-4D570EF5F027}" type="parTrans" cxnId="{00EF318B-51EB-44B4-B756-FBB1BCD8F21C}">
      <dgm:prSet/>
      <dgm:spPr/>
      <dgm:t>
        <a:bodyPr/>
        <a:lstStyle/>
        <a:p>
          <a:endParaRPr lang="en-US"/>
        </a:p>
      </dgm:t>
    </dgm:pt>
    <dgm:pt modelId="{684B2257-2FBB-4C90-BF2A-9A7F6ADB9297}" type="sibTrans" cxnId="{00EF318B-51EB-44B4-B756-FBB1BCD8F21C}">
      <dgm:prSet/>
      <dgm:spPr/>
      <dgm:t>
        <a:bodyPr/>
        <a:lstStyle/>
        <a:p>
          <a:endParaRPr lang="en-US"/>
        </a:p>
      </dgm:t>
    </dgm:pt>
    <dgm:pt modelId="{3BD388FD-A0E1-4CAA-ABAF-F202BC872CA8}">
      <dgm:prSet phldrT="[Text]" custT="1"/>
      <dgm:spPr>
        <a:xfrm rot="5400000">
          <a:off x="5553921" y="-4499164"/>
          <a:ext cx="976067" cy="9981611"/>
        </a:xfrm>
        <a:prstGeom prst="round2Same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14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Source Sans Pro" panose="020B0503030403020204" pitchFamily="34" charset="0"/>
              <a:ea typeface="+mn-ea"/>
              <a:cs typeface="+mn-cs"/>
            </a:rPr>
            <a:t>This is used to extract various data point from the insurance policy that are submitted for IFC. project.</a:t>
          </a:r>
        </a:p>
      </dgm:t>
    </dgm:pt>
    <dgm:pt modelId="{4A2F0C4C-9090-4635-938F-3A86D6FA68F2}" type="parTrans" cxnId="{B919A2BE-EF28-494E-A2AF-7F6AA9A96406}">
      <dgm:prSet/>
      <dgm:spPr/>
      <dgm:t>
        <a:bodyPr/>
        <a:lstStyle/>
        <a:p>
          <a:endParaRPr lang="en-US"/>
        </a:p>
      </dgm:t>
    </dgm:pt>
    <dgm:pt modelId="{54882D8D-AFD2-45D4-99BF-464F9799BD6F}" type="sibTrans" cxnId="{B919A2BE-EF28-494E-A2AF-7F6AA9A96406}">
      <dgm:prSet/>
      <dgm:spPr/>
      <dgm:t>
        <a:bodyPr/>
        <a:lstStyle/>
        <a:p>
          <a:endParaRPr lang="en-US"/>
        </a:p>
      </dgm:t>
    </dgm:pt>
    <dgm:pt modelId="{A2E799E6-C08F-41B9-827A-3108F84FF15F}">
      <dgm:prSet phldrT="[Text]" custT="1"/>
      <dgm:spPr>
        <a:xfrm rot="5400000">
          <a:off x="-225246" y="1586374"/>
          <a:ext cx="1501641" cy="1051149"/>
        </a:xfrm>
        <a:prstGeom prst="chevron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ysClr val="window" lastClr="FFFFFF"/>
              </a:solidFill>
              <a:latin typeface="Source Sans Pro" panose="020B0503030403020204" pitchFamily="34" charset="0"/>
              <a:ea typeface="+mn-ea"/>
              <a:cs typeface="+mn-cs"/>
            </a:rPr>
            <a:t>Blended Finance Guarantee Agreements</a:t>
          </a:r>
        </a:p>
      </dgm:t>
    </dgm:pt>
    <dgm:pt modelId="{9F164C4D-9761-4D3D-B655-E9C32CBC5CA5}" type="parTrans" cxnId="{829DC5E3-0949-4E44-999D-3DA2167772B2}">
      <dgm:prSet/>
      <dgm:spPr/>
      <dgm:t>
        <a:bodyPr/>
        <a:lstStyle/>
        <a:p>
          <a:endParaRPr lang="en-US"/>
        </a:p>
      </dgm:t>
    </dgm:pt>
    <dgm:pt modelId="{6B138808-4782-45CB-8AEF-67A0C8FD675A}" type="sibTrans" cxnId="{829DC5E3-0949-4E44-999D-3DA2167772B2}">
      <dgm:prSet/>
      <dgm:spPr/>
      <dgm:t>
        <a:bodyPr/>
        <a:lstStyle/>
        <a:p>
          <a:endParaRPr lang="en-US"/>
        </a:p>
      </dgm:t>
    </dgm:pt>
    <dgm:pt modelId="{33882A03-5577-49CF-9C5D-66318A148A20}">
      <dgm:prSet phldrT="[Text]" custT="1"/>
      <dgm:spPr>
        <a:xfrm rot="5400000">
          <a:off x="5553921" y="-3141643"/>
          <a:ext cx="976067" cy="9981611"/>
        </a:xfrm>
        <a:prstGeom prst="round2Same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1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Source Sans Pro" panose="020B0503030403020204" pitchFamily="34" charset="0"/>
              <a:ea typeface="+mn-ea"/>
              <a:cs typeface="+mn-cs"/>
            </a:rPr>
            <a:t>Analysis of Legal documents pertaining to Blended Finance.</a:t>
          </a:r>
        </a:p>
      </dgm:t>
    </dgm:pt>
    <dgm:pt modelId="{03C3B28D-7435-4A25-8E67-9557B3A3A417}" type="parTrans" cxnId="{2628172E-68F8-477D-A871-C9C5F402C5B5}">
      <dgm:prSet/>
      <dgm:spPr/>
      <dgm:t>
        <a:bodyPr/>
        <a:lstStyle/>
        <a:p>
          <a:endParaRPr lang="en-US"/>
        </a:p>
      </dgm:t>
    </dgm:pt>
    <dgm:pt modelId="{AD95DC19-64B2-46B4-8754-D655158A0EC5}" type="sibTrans" cxnId="{2628172E-68F8-477D-A871-C9C5F402C5B5}">
      <dgm:prSet/>
      <dgm:spPr/>
      <dgm:t>
        <a:bodyPr/>
        <a:lstStyle/>
        <a:p>
          <a:endParaRPr lang="en-US"/>
        </a:p>
      </dgm:t>
    </dgm:pt>
    <dgm:pt modelId="{1840026B-26FE-426E-9F2C-A323AE02A01F}">
      <dgm:prSet phldrT="[Text]" custT="1"/>
      <dgm:spPr>
        <a:xfrm rot="5400000">
          <a:off x="-225246" y="2943895"/>
          <a:ext cx="1501641" cy="1051149"/>
        </a:xfrm>
        <a:prstGeom prst="chevron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US" sz="1200" kern="1200" dirty="0">
              <a:solidFill>
                <a:sysClr val="window" lastClr="FFFFFF"/>
              </a:solidFill>
              <a:latin typeface="Source Sans Pro" panose="020B0503030403020204" pitchFamily="34" charset="0"/>
              <a:ea typeface="+mn-ea"/>
              <a:cs typeface="+mn-cs"/>
            </a:rPr>
            <a:t>Gender Flag Analysis</a:t>
          </a:r>
        </a:p>
      </dgm:t>
    </dgm:pt>
    <dgm:pt modelId="{72F09443-1DC2-4912-A368-829074C6618C}" type="parTrans" cxnId="{5D1085DD-EAA7-4C6D-9D7D-97C3CCCCB812}">
      <dgm:prSet/>
      <dgm:spPr/>
      <dgm:t>
        <a:bodyPr/>
        <a:lstStyle/>
        <a:p>
          <a:endParaRPr lang="en-US"/>
        </a:p>
      </dgm:t>
    </dgm:pt>
    <dgm:pt modelId="{04869105-68C1-4FC6-A56F-FDAE462CE3C1}" type="sibTrans" cxnId="{5D1085DD-EAA7-4C6D-9D7D-97C3CCCCB812}">
      <dgm:prSet/>
      <dgm:spPr/>
      <dgm:t>
        <a:bodyPr/>
        <a:lstStyle/>
        <a:p>
          <a:endParaRPr lang="en-US"/>
        </a:p>
      </dgm:t>
    </dgm:pt>
    <dgm:pt modelId="{998D7BE0-E633-49A7-8448-775501C93BAE}">
      <dgm:prSet phldrT="[Text]" custT="1"/>
      <dgm:spPr>
        <a:xfrm rot="5400000">
          <a:off x="-225246" y="4301416"/>
          <a:ext cx="1501641" cy="1051149"/>
        </a:xfrm>
        <a:prstGeom prst="chevron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ysClr val="window" lastClr="FFFFFF"/>
              </a:solidFill>
              <a:latin typeface="Source Sans Pro" panose="020B0503030403020204" pitchFamily="34" charset="0"/>
              <a:ea typeface="+mn-ea"/>
              <a:cs typeface="+mn-cs"/>
            </a:rPr>
            <a:t>MCT News Generation</a:t>
          </a:r>
        </a:p>
      </dgm:t>
    </dgm:pt>
    <dgm:pt modelId="{0A3C479D-1F76-4DA9-9D4E-F34B9A363B19}" type="parTrans" cxnId="{023A3C48-776D-4F4D-893A-DC3CD4B2421B}">
      <dgm:prSet/>
      <dgm:spPr/>
      <dgm:t>
        <a:bodyPr/>
        <a:lstStyle/>
        <a:p>
          <a:endParaRPr lang="en-US"/>
        </a:p>
      </dgm:t>
    </dgm:pt>
    <dgm:pt modelId="{2BF0EDA4-86B5-409E-BB3B-C44DE8AD8241}" type="sibTrans" cxnId="{023A3C48-776D-4F4D-893A-DC3CD4B2421B}">
      <dgm:prSet/>
      <dgm:spPr/>
      <dgm:t>
        <a:bodyPr/>
        <a:lstStyle/>
        <a:p>
          <a:endParaRPr lang="en-US"/>
        </a:p>
      </dgm:t>
    </dgm:pt>
    <dgm:pt modelId="{6FB824F1-057A-4CEC-A9A6-EA643F70080E}">
      <dgm:prSet phldrT="[Text]" custT="1"/>
      <dgm:spPr>
        <a:xfrm rot="5400000">
          <a:off x="5553921" y="-426601"/>
          <a:ext cx="976067" cy="9981611"/>
        </a:xfrm>
        <a:prstGeom prst="round2Same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1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Source Sans Pro" panose="020B0503030403020204" pitchFamily="34" charset="0"/>
              <a:ea typeface="+mn-ea"/>
              <a:cs typeface="+mn-cs"/>
            </a:rPr>
            <a:t>Used to generate Monthly country updates for MCT region by reading various news article.</a:t>
          </a:r>
        </a:p>
      </dgm:t>
    </dgm:pt>
    <dgm:pt modelId="{50E69992-04F9-4FFD-90C8-174463BF7641}" type="parTrans" cxnId="{24F78446-40C9-4CAA-90E7-C8F664DCF3EC}">
      <dgm:prSet/>
      <dgm:spPr/>
      <dgm:t>
        <a:bodyPr/>
        <a:lstStyle/>
        <a:p>
          <a:endParaRPr lang="en-US"/>
        </a:p>
      </dgm:t>
    </dgm:pt>
    <dgm:pt modelId="{24A4660A-242D-423D-82CA-F3E73BDAA85D}" type="sibTrans" cxnId="{24F78446-40C9-4CAA-90E7-C8F664DCF3EC}">
      <dgm:prSet/>
      <dgm:spPr/>
      <dgm:t>
        <a:bodyPr/>
        <a:lstStyle/>
        <a:p>
          <a:endParaRPr lang="en-US"/>
        </a:p>
      </dgm:t>
    </dgm:pt>
    <dgm:pt modelId="{B10FAD4D-ED7D-4278-92B2-E69B0A1CCEBD}">
      <dgm:prSet custT="1"/>
      <dgm:spPr>
        <a:xfrm rot="5400000">
          <a:off x="5553921" y="-1784122"/>
          <a:ext cx="976067" cy="9981611"/>
        </a:xfrm>
        <a:prstGeom prst="round2Same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Source Sans Pro" panose="020B0503030403020204" pitchFamily="34" charset="0"/>
              <a:ea typeface="+mn-ea"/>
              <a:cs typeface="+mn-cs"/>
            </a:rPr>
            <a:t>Analysis of gender flags in an Investment Board Paper.</a:t>
          </a:r>
        </a:p>
      </dgm:t>
    </dgm:pt>
    <dgm:pt modelId="{8C1F0808-0B0C-454C-BEAC-059CC37C849C}" type="parTrans" cxnId="{5F7A0185-CD50-4F22-903C-2731538B3E26}">
      <dgm:prSet/>
      <dgm:spPr/>
      <dgm:t>
        <a:bodyPr/>
        <a:lstStyle/>
        <a:p>
          <a:endParaRPr lang="en-US"/>
        </a:p>
      </dgm:t>
    </dgm:pt>
    <dgm:pt modelId="{EE257DDE-4A8E-4DEE-9D53-754212E9E6E5}" type="sibTrans" cxnId="{5F7A0185-CD50-4F22-903C-2731538B3E26}">
      <dgm:prSet/>
      <dgm:spPr/>
      <dgm:t>
        <a:bodyPr/>
        <a:lstStyle/>
        <a:p>
          <a:endParaRPr lang="en-US"/>
        </a:p>
      </dgm:t>
    </dgm:pt>
    <dgm:pt modelId="{005733EC-B7EC-4A7A-9BF2-5735B2B76400}">
      <dgm:prSet custT="1"/>
      <dgm:spPr>
        <a:xfrm rot="5400000">
          <a:off x="5553921" y="-1784122"/>
          <a:ext cx="976067" cy="9981611"/>
        </a:xfrm>
        <a:prstGeom prst="round2Same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Source Sans Pro" panose="020B0503030403020204" pitchFamily="34" charset="0"/>
              <a:ea typeface="+mn-ea"/>
              <a:cs typeface="+mn-cs"/>
            </a:rPr>
            <a:t>The response contains - Gender Gaps identified in the board paper, Interventions by the IFC to address the Gender gaps and relevant indicators for every Gender Gap.</a:t>
          </a:r>
        </a:p>
      </dgm:t>
    </dgm:pt>
    <dgm:pt modelId="{26A4D017-BF68-40B6-906B-13BB3D01E335}" type="parTrans" cxnId="{01E7D8B6-FA6B-481F-906E-EA130A99FE07}">
      <dgm:prSet/>
      <dgm:spPr/>
      <dgm:t>
        <a:bodyPr/>
        <a:lstStyle/>
        <a:p>
          <a:endParaRPr lang="en-US"/>
        </a:p>
      </dgm:t>
    </dgm:pt>
    <dgm:pt modelId="{24762D5B-ED96-4D62-86B2-8365ABCD2A58}" type="sibTrans" cxnId="{01E7D8B6-FA6B-481F-906E-EA130A99FE07}">
      <dgm:prSet/>
      <dgm:spPr/>
      <dgm:t>
        <a:bodyPr/>
        <a:lstStyle/>
        <a:p>
          <a:endParaRPr lang="en-US"/>
        </a:p>
      </dgm:t>
    </dgm:pt>
    <dgm:pt modelId="{C0336FB5-686E-4C55-AE9F-92F48B1FEFA1}" type="pres">
      <dgm:prSet presAssocID="{66EC78F3-3EED-4AD7-B224-21111883C646}" presName="linearFlow" presStyleCnt="0">
        <dgm:presLayoutVars>
          <dgm:dir/>
          <dgm:animLvl val="lvl"/>
          <dgm:resizeHandles val="exact"/>
        </dgm:presLayoutVars>
      </dgm:prSet>
      <dgm:spPr/>
    </dgm:pt>
    <dgm:pt modelId="{8FDD5336-3CAE-4BD0-ACD5-2CB64320A6FD}" type="pres">
      <dgm:prSet presAssocID="{180F9891-ECBB-4A57-BC5B-5DBAA3176A16}" presName="composite" presStyleCnt="0"/>
      <dgm:spPr/>
    </dgm:pt>
    <dgm:pt modelId="{B3CFA71B-E442-46EF-B83A-978C66CAA456}" type="pres">
      <dgm:prSet presAssocID="{180F9891-ECBB-4A57-BC5B-5DBAA3176A16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09EC6102-478C-4AD1-9766-3CD784AD87DD}" type="pres">
      <dgm:prSet presAssocID="{180F9891-ECBB-4A57-BC5B-5DBAA3176A16}" presName="descendantText" presStyleLbl="alignAcc1" presStyleIdx="0" presStyleCnt="4">
        <dgm:presLayoutVars>
          <dgm:bulletEnabled val="1"/>
        </dgm:presLayoutVars>
      </dgm:prSet>
      <dgm:spPr/>
    </dgm:pt>
    <dgm:pt modelId="{6A3F1659-A7FA-44CE-9206-33EA28909DE7}" type="pres">
      <dgm:prSet presAssocID="{684B2257-2FBB-4C90-BF2A-9A7F6ADB9297}" presName="sp" presStyleCnt="0"/>
      <dgm:spPr/>
    </dgm:pt>
    <dgm:pt modelId="{AA59FFC6-E5AE-4011-A6AE-DF2DBE112572}" type="pres">
      <dgm:prSet presAssocID="{A2E799E6-C08F-41B9-827A-3108F84FF15F}" presName="composite" presStyleCnt="0"/>
      <dgm:spPr/>
    </dgm:pt>
    <dgm:pt modelId="{3C07586F-8DC4-4A67-A04C-5AB0DDA663E4}" type="pres">
      <dgm:prSet presAssocID="{A2E799E6-C08F-41B9-827A-3108F84FF15F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0BF7F8F5-B50B-413A-958E-C51C26465C36}" type="pres">
      <dgm:prSet presAssocID="{A2E799E6-C08F-41B9-827A-3108F84FF15F}" presName="descendantText" presStyleLbl="alignAcc1" presStyleIdx="1" presStyleCnt="4">
        <dgm:presLayoutVars>
          <dgm:bulletEnabled val="1"/>
        </dgm:presLayoutVars>
      </dgm:prSet>
      <dgm:spPr/>
    </dgm:pt>
    <dgm:pt modelId="{0DA60415-E327-4F7D-8D8E-2F5C38ED4178}" type="pres">
      <dgm:prSet presAssocID="{6B138808-4782-45CB-8AEF-67A0C8FD675A}" presName="sp" presStyleCnt="0"/>
      <dgm:spPr/>
    </dgm:pt>
    <dgm:pt modelId="{1EE5E46D-24B2-4724-A9DF-AD2A334EF1AC}" type="pres">
      <dgm:prSet presAssocID="{1840026B-26FE-426E-9F2C-A323AE02A01F}" presName="composite" presStyleCnt="0"/>
      <dgm:spPr/>
    </dgm:pt>
    <dgm:pt modelId="{0891F185-75A0-4DFD-B79E-396FF40AE76B}" type="pres">
      <dgm:prSet presAssocID="{1840026B-26FE-426E-9F2C-A323AE02A01F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A5666532-972F-490E-879B-EEFE537AF7BC}" type="pres">
      <dgm:prSet presAssocID="{1840026B-26FE-426E-9F2C-A323AE02A01F}" presName="descendantText" presStyleLbl="alignAcc1" presStyleIdx="2" presStyleCnt="4">
        <dgm:presLayoutVars>
          <dgm:bulletEnabled val="1"/>
        </dgm:presLayoutVars>
      </dgm:prSet>
      <dgm:spPr/>
    </dgm:pt>
    <dgm:pt modelId="{764350A4-F6BC-41E0-A311-A324A944643C}" type="pres">
      <dgm:prSet presAssocID="{04869105-68C1-4FC6-A56F-FDAE462CE3C1}" presName="sp" presStyleCnt="0"/>
      <dgm:spPr/>
    </dgm:pt>
    <dgm:pt modelId="{A73D8475-CCB1-4611-9510-BBA008F3719C}" type="pres">
      <dgm:prSet presAssocID="{998D7BE0-E633-49A7-8448-775501C93BAE}" presName="composite" presStyleCnt="0"/>
      <dgm:spPr/>
    </dgm:pt>
    <dgm:pt modelId="{A44FAE1B-4C8D-4123-AB08-FD4AB82AC183}" type="pres">
      <dgm:prSet presAssocID="{998D7BE0-E633-49A7-8448-775501C93BAE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996408C4-83DB-4D02-BDBA-46146ED3ACA0}" type="pres">
      <dgm:prSet presAssocID="{998D7BE0-E633-49A7-8448-775501C93BAE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3CDA5E17-0F86-41FD-B0E6-155D36B424F7}" type="presOf" srcId="{B10FAD4D-ED7D-4278-92B2-E69B0A1CCEBD}" destId="{A5666532-972F-490E-879B-EEFE537AF7BC}" srcOrd="0" destOrd="0" presId="urn:microsoft.com/office/officeart/2005/8/layout/chevron2"/>
    <dgm:cxn modelId="{68017429-C16A-4901-977F-9D3B4199DB54}" type="presOf" srcId="{3BD388FD-A0E1-4CAA-ABAF-F202BC872CA8}" destId="{09EC6102-478C-4AD1-9766-3CD784AD87DD}" srcOrd="0" destOrd="0" presId="urn:microsoft.com/office/officeart/2005/8/layout/chevron2"/>
    <dgm:cxn modelId="{2EB0472B-4727-4651-8FDC-D650B9A9CE2D}" type="presOf" srcId="{1840026B-26FE-426E-9F2C-A323AE02A01F}" destId="{0891F185-75A0-4DFD-B79E-396FF40AE76B}" srcOrd="0" destOrd="0" presId="urn:microsoft.com/office/officeart/2005/8/layout/chevron2"/>
    <dgm:cxn modelId="{312A902D-4BB9-44AA-A220-B20B469C6178}" type="presOf" srcId="{005733EC-B7EC-4A7A-9BF2-5735B2B76400}" destId="{A5666532-972F-490E-879B-EEFE537AF7BC}" srcOrd="0" destOrd="1" presId="urn:microsoft.com/office/officeart/2005/8/layout/chevron2"/>
    <dgm:cxn modelId="{2628172E-68F8-477D-A871-C9C5F402C5B5}" srcId="{A2E799E6-C08F-41B9-827A-3108F84FF15F}" destId="{33882A03-5577-49CF-9C5D-66318A148A20}" srcOrd="0" destOrd="0" parTransId="{03C3B28D-7435-4A25-8E67-9557B3A3A417}" sibTransId="{AD95DC19-64B2-46B4-8754-D655158A0EC5}"/>
    <dgm:cxn modelId="{0A274261-E462-43AC-B2AD-82EB2BC58564}" type="presOf" srcId="{A2E799E6-C08F-41B9-827A-3108F84FF15F}" destId="{3C07586F-8DC4-4A67-A04C-5AB0DDA663E4}" srcOrd="0" destOrd="0" presId="urn:microsoft.com/office/officeart/2005/8/layout/chevron2"/>
    <dgm:cxn modelId="{24F78446-40C9-4CAA-90E7-C8F664DCF3EC}" srcId="{998D7BE0-E633-49A7-8448-775501C93BAE}" destId="{6FB824F1-057A-4CEC-A9A6-EA643F70080E}" srcOrd="0" destOrd="0" parTransId="{50E69992-04F9-4FFD-90C8-174463BF7641}" sibTransId="{24A4660A-242D-423D-82CA-F3E73BDAA85D}"/>
    <dgm:cxn modelId="{023A3C48-776D-4F4D-893A-DC3CD4B2421B}" srcId="{66EC78F3-3EED-4AD7-B224-21111883C646}" destId="{998D7BE0-E633-49A7-8448-775501C93BAE}" srcOrd="3" destOrd="0" parTransId="{0A3C479D-1F76-4DA9-9D4E-F34B9A363B19}" sibTransId="{2BF0EDA4-86B5-409E-BB3B-C44DE8AD8241}"/>
    <dgm:cxn modelId="{6CEC216E-EB13-4225-9EE7-3B8EE648CBB0}" type="presOf" srcId="{6FB824F1-057A-4CEC-A9A6-EA643F70080E}" destId="{996408C4-83DB-4D02-BDBA-46146ED3ACA0}" srcOrd="0" destOrd="0" presId="urn:microsoft.com/office/officeart/2005/8/layout/chevron2"/>
    <dgm:cxn modelId="{5F7A0185-CD50-4F22-903C-2731538B3E26}" srcId="{1840026B-26FE-426E-9F2C-A323AE02A01F}" destId="{B10FAD4D-ED7D-4278-92B2-E69B0A1CCEBD}" srcOrd="0" destOrd="0" parTransId="{8C1F0808-0B0C-454C-BEAC-059CC37C849C}" sibTransId="{EE257DDE-4A8E-4DEE-9D53-754212E9E6E5}"/>
    <dgm:cxn modelId="{00EF318B-51EB-44B4-B756-FBB1BCD8F21C}" srcId="{66EC78F3-3EED-4AD7-B224-21111883C646}" destId="{180F9891-ECBB-4A57-BC5B-5DBAA3176A16}" srcOrd="0" destOrd="0" parTransId="{8C13A621-BEE9-4F3A-9659-4D570EF5F027}" sibTransId="{684B2257-2FBB-4C90-BF2A-9A7F6ADB9297}"/>
    <dgm:cxn modelId="{9829B8A3-FF79-46D1-89C4-2FC7C123E1C3}" type="presOf" srcId="{33882A03-5577-49CF-9C5D-66318A148A20}" destId="{0BF7F8F5-B50B-413A-958E-C51C26465C36}" srcOrd="0" destOrd="0" presId="urn:microsoft.com/office/officeart/2005/8/layout/chevron2"/>
    <dgm:cxn modelId="{01E7D8B6-FA6B-481F-906E-EA130A99FE07}" srcId="{1840026B-26FE-426E-9F2C-A323AE02A01F}" destId="{005733EC-B7EC-4A7A-9BF2-5735B2B76400}" srcOrd="1" destOrd="0" parTransId="{26A4D017-BF68-40B6-906B-13BB3D01E335}" sibTransId="{24762D5B-ED96-4D62-86B2-8365ABCD2A58}"/>
    <dgm:cxn modelId="{B919A2BE-EF28-494E-A2AF-7F6AA9A96406}" srcId="{180F9891-ECBB-4A57-BC5B-5DBAA3176A16}" destId="{3BD388FD-A0E1-4CAA-ABAF-F202BC872CA8}" srcOrd="0" destOrd="0" parTransId="{4A2F0C4C-9090-4635-938F-3A86D6FA68F2}" sibTransId="{54882D8D-AFD2-45D4-99BF-464F9799BD6F}"/>
    <dgm:cxn modelId="{7CE178D6-8DBC-4DE8-BBE4-2CDF2A909C73}" type="presOf" srcId="{180F9891-ECBB-4A57-BC5B-5DBAA3176A16}" destId="{B3CFA71B-E442-46EF-B83A-978C66CAA456}" srcOrd="0" destOrd="0" presId="urn:microsoft.com/office/officeart/2005/8/layout/chevron2"/>
    <dgm:cxn modelId="{5D1085DD-EAA7-4C6D-9D7D-97C3CCCCB812}" srcId="{66EC78F3-3EED-4AD7-B224-21111883C646}" destId="{1840026B-26FE-426E-9F2C-A323AE02A01F}" srcOrd="2" destOrd="0" parTransId="{72F09443-1DC2-4912-A368-829074C6618C}" sibTransId="{04869105-68C1-4FC6-A56F-FDAE462CE3C1}"/>
    <dgm:cxn modelId="{61F44CDF-F222-4EDB-A9C5-D2796CD7C93E}" type="presOf" srcId="{66EC78F3-3EED-4AD7-B224-21111883C646}" destId="{C0336FB5-686E-4C55-AE9F-92F48B1FEFA1}" srcOrd="0" destOrd="0" presId="urn:microsoft.com/office/officeart/2005/8/layout/chevron2"/>
    <dgm:cxn modelId="{829DC5E3-0949-4E44-999D-3DA2167772B2}" srcId="{66EC78F3-3EED-4AD7-B224-21111883C646}" destId="{A2E799E6-C08F-41B9-827A-3108F84FF15F}" srcOrd="1" destOrd="0" parTransId="{9F164C4D-9761-4D3D-B655-E9C32CBC5CA5}" sibTransId="{6B138808-4782-45CB-8AEF-67A0C8FD675A}"/>
    <dgm:cxn modelId="{C82474FC-5C0E-4FEE-A8C8-D1F81BEFBE99}" type="presOf" srcId="{998D7BE0-E633-49A7-8448-775501C93BAE}" destId="{A44FAE1B-4C8D-4123-AB08-FD4AB82AC183}" srcOrd="0" destOrd="0" presId="urn:microsoft.com/office/officeart/2005/8/layout/chevron2"/>
    <dgm:cxn modelId="{338DC05A-1F23-49A4-8697-96926C33F123}" type="presParOf" srcId="{C0336FB5-686E-4C55-AE9F-92F48B1FEFA1}" destId="{8FDD5336-3CAE-4BD0-ACD5-2CB64320A6FD}" srcOrd="0" destOrd="0" presId="urn:microsoft.com/office/officeart/2005/8/layout/chevron2"/>
    <dgm:cxn modelId="{D6CA4A9A-01D8-48EE-8A89-3F05C2584982}" type="presParOf" srcId="{8FDD5336-3CAE-4BD0-ACD5-2CB64320A6FD}" destId="{B3CFA71B-E442-46EF-B83A-978C66CAA456}" srcOrd="0" destOrd="0" presId="urn:microsoft.com/office/officeart/2005/8/layout/chevron2"/>
    <dgm:cxn modelId="{75279B31-C23A-487A-84F5-4D3800637F71}" type="presParOf" srcId="{8FDD5336-3CAE-4BD0-ACD5-2CB64320A6FD}" destId="{09EC6102-478C-4AD1-9766-3CD784AD87DD}" srcOrd="1" destOrd="0" presId="urn:microsoft.com/office/officeart/2005/8/layout/chevron2"/>
    <dgm:cxn modelId="{61183FA3-FDA4-4268-921A-804EC407AE9F}" type="presParOf" srcId="{C0336FB5-686E-4C55-AE9F-92F48B1FEFA1}" destId="{6A3F1659-A7FA-44CE-9206-33EA28909DE7}" srcOrd="1" destOrd="0" presId="urn:microsoft.com/office/officeart/2005/8/layout/chevron2"/>
    <dgm:cxn modelId="{D71FE3F0-5AE1-4C0C-ABAF-BDDA651DAC63}" type="presParOf" srcId="{C0336FB5-686E-4C55-AE9F-92F48B1FEFA1}" destId="{AA59FFC6-E5AE-4011-A6AE-DF2DBE112572}" srcOrd="2" destOrd="0" presId="urn:microsoft.com/office/officeart/2005/8/layout/chevron2"/>
    <dgm:cxn modelId="{9D91725E-F6D3-41EC-BBAF-F26D32839756}" type="presParOf" srcId="{AA59FFC6-E5AE-4011-A6AE-DF2DBE112572}" destId="{3C07586F-8DC4-4A67-A04C-5AB0DDA663E4}" srcOrd="0" destOrd="0" presId="urn:microsoft.com/office/officeart/2005/8/layout/chevron2"/>
    <dgm:cxn modelId="{B8D5A42C-D3EA-47A0-89E6-3C187F803634}" type="presParOf" srcId="{AA59FFC6-E5AE-4011-A6AE-DF2DBE112572}" destId="{0BF7F8F5-B50B-413A-958E-C51C26465C36}" srcOrd="1" destOrd="0" presId="urn:microsoft.com/office/officeart/2005/8/layout/chevron2"/>
    <dgm:cxn modelId="{F1D16A0E-EDD6-4A8A-982F-62FF33183A28}" type="presParOf" srcId="{C0336FB5-686E-4C55-AE9F-92F48B1FEFA1}" destId="{0DA60415-E327-4F7D-8D8E-2F5C38ED4178}" srcOrd="3" destOrd="0" presId="urn:microsoft.com/office/officeart/2005/8/layout/chevron2"/>
    <dgm:cxn modelId="{2A9DAF74-6FC4-4D06-8330-6128942D2CFB}" type="presParOf" srcId="{C0336FB5-686E-4C55-AE9F-92F48B1FEFA1}" destId="{1EE5E46D-24B2-4724-A9DF-AD2A334EF1AC}" srcOrd="4" destOrd="0" presId="urn:microsoft.com/office/officeart/2005/8/layout/chevron2"/>
    <dgm:cxn modelId="{08C63B9F-FC80-4484-96AC-093918733CEE}" type="presParOf" srcId="{1EE5E46D-24B2-4724-A9DF-AD2A334EF1AC}" destId="{0891F185-75A0-4DFD-B79E-396FF40AE76B}" srcOrd="0" destOrd="0" presId="urn:microsoft.com/office/officeart/2005/8/layout/chevron2"/>
    <dgm:cxn modelId="{5F310161-1DD3-4B0D-BCCC-B897A8A21716}" type="presParOf" srcId="{1EE5E46D-24B2-4724-A9DF-AD2A334EF1AC}" destId="{A5666532-972F-490E-879B-EEFE537AF7BC}" srcOrd="1" destOrd="0" presId="urn:microsoft.com/office/officeart/2005/8/layout/chevron2"/>
    <dgm:cxn modelId="{AC7EB99D-26F2-4FC0-87C1-32B716BB550D}" type="presParOf" srcId="{C0336FB5-686E-4C55-AE9F-92F48B1FEFA1}" destId="{764350A4-F6BC-41E0-A311-A324A944643C}" srcOrd="5" destOrd="0" presId="urn:microsoft.com/office/officeart/2005/8/layout/chevron2"/>
    <dgm:cxn modelId="{9005A10A-C00B-49ED-99E1-D20180DDBBA3}" type="presParOf" srcId="{C0336FB5-686E-4C55-AE9F-92F48B1FEFA1}" destId="{A73D8475-CCB1-4611-9510-BBA008F3719C}" srcOrd="6" destOrd="0" presId="urn:microsoft.com/office/officeart/2005/8/layout/chevron2"/>
    <dgm:cxn modelId="{3299FF77-CC97-4A11-ACDE-4C67C54E1DD5}" type="presParOf" srcId="{A73D8475-CCB1-4611-9510-BBA008F3719C}" destId="{A44FAE1B-4C8D-4123-AB08-FD4AB82AC183}" srcOrd="0" destOrd="0" presId="urn:microsoft.com/office/officeart/2005/8/layout/chevron2"/>
    <dgm:cxn modelId="{DF1BCEFB-C98A-4BCA-88C5-9963DC3D85DC}" type="presParOf" srcId="{A73D8475-CCB1-4611-9510-BBA008F3719C}" destId="{996408C4-83DB-4D02-BDBA-46146ED3ACA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EC78F3-3EED-4AD7-B224-21111883C646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0F9891-ECBB-4A57-BC5B-5DBAA3176A16}">
      <dgm:prSet phldrT="[Text]" custT="1"/>
      <dgm:spPr>
        <a:xfrm rot="5400000">
          <a:off x="-225246" y="228854"/>
          <a:ext cx="1501641" cy="1051149"/>
        </a:xfrm>
        <a:prstGeom prst="chevron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ysClr val="window" lastClr="FFFFFF"/>
              </a:solidFill>
              <a:latin typeface="Source Sans Pro" panose="020B0503030403020204" pitchFamily="34" charset="0"/>
              <a:ea typeface="+mn-ea"/>
              <a:cs typeface="+mn-cs"/>
            </a:rPr>
            <a:t>Donor Report</a:t>
          </a:r>
        </a:p>
      </dgm:t>
    </dgm:pt>
    <dgm:pt modelId="{8C13A621-BEE9-4F3A-9659-4D570EF5F027}" type="parTrans" cxnId="{00EF318B-51EB-44B4-B756-FBB1BCD8F21C}">
      <dgm:prSet/>
      <dgm:spPr/>
      <dgm:t>
        <a:bodyPr/>
        <a:lstStyle/>
        <a:p>
          <a:endParaRPr lang="en-US"/>
        </a:p>
      </dgm:t>
    </dgm:pt>
    <dgm:pt modelId="{684B2257-2FBB-4C90-BF2A-9A7F6ADB9297}" type="sibTrans" cxnId="{00EF318B-51EB-44B4-B756-FBB1BCD8F21C}">
      <dgm:prSet/>
      <dgm:spPr/>
      <dgm:t>
        <a:bodyPr/>
        <a:lstStyle/>
        <a:p>
          <a:endParaRPr lang="en-US"/>
        </a:p>
      </dgm:t>
    </dgm:pt>
    <dgm:pt modelId="{3BD388FD-A0E1-4CAA-ABAF-F202BC872CA8}">
      <dgm:prSet phldrT="[Text]" custT="1"/>
      <dgm:spPr>
        <a:xfrm rot="5400000">
          <a:off x="5553921" y="-4499164"/>
          <a:ext cx="976067" cy="9981611"/>
        </a:xfrm>
        <a:prstGeom prst="round2Same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1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Source Sans Pro" panose="020B0503030403020204" pitchFamily="34" charset="0"/>
              <a:ea typeface="+mn-ea"/>
              <a:cs typeface="+mn-cs"/>
            </a:rPr>
            <a:t>This space is to create a first draft for a project write up to be used for donor reporting.</a:t>
          </a:r>
        </a:p>
      </dgm:t>
    </dgm:pt>
    <dgm:pt modelId="{4A2F0C4C-9090-4635-938F-3A86D6FA68F2}" type="parTrans" cxnId="{B919A2BE-EF28-494E-A2AF-7F6AA9A96406}">
      <dgm:prSet/>
      <dgm:spPr/>
      <dgm:t>
        <a:bodyPr/>
        <a:lstStyle/>
        <a:p>
          <a:endParaRPr lang="en-US"/>
        </a:p>
      </dgm:t>
    </dgm:pt>
    <dgm:pt modelId="{54882D8D-AFD2-45D4-99BF-464F9799BD6F}" type="sibTrans" cxnId="{B919A2BE-EF28-494E-A2AF-7F6AA9A96406}">
      <dgm:prSet/>
      <dgm:spPr/>
      <dgm:t>
        <a:bodyPr/>
        <a:lstStyle/>
        <a:p>
          <a:endParaRPr lang="en-US"/>
        </a:p>
      </dgm:t>
    </dgm:pt>
    <dgm:pt modelId="{A2E799E6-C08F-41B9-827A-3108F84FF15F}">
      <dgm:prSet phldrT="[Text]" custT="1"/>
      <dgm:spPr>
        <a:xfrm rot="5400000">
          <a:off x="-225246" y="1586374"/>
          <a:ext cx="1501641" cy="1051149"/>
        </a:xfrm>
        <a:prstGeom prst="chevron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ysClr val="window" lastClr="FFFFFF"/>
              </a:solidFill>
              <a:latin typeface="Source Sans Pro" panose="020B0503030403020204" pitchFamily="34" charset="0"/>
              <a:ea typeface="+mn-ea"/>
              <a:cs typeface="+mn-cs"/>
            </a:rPr>
            <a:t>Climate Note - Paris Alignment</a:t>
          </a:r>
        </a:p>
      </dgm:t>
    </dgm:pt>
    <dgm:pt modelId="{9F164C4D-9761-4D3D-B655-E9C32CBC5CA5}" type="parTrans" cxnId="{829DC5E3-0949-4E44-999D-3DA2167772B2}">
      <dgm:prSet/>
      <dgm:spPr/>
      <dgm:t>
        <a:bodyPr/>
        <a:lstStyle/>
        <a:p>
          <a:endParaRPr lang="en-US"/>
        </a:p>
      </dgm:t>
    </dgm:pt>
    <dgm:pt modelId="{6B138808-4782-45CB-8AEF-67A0C8FD675A}" type="sibTrans" cxnId="{829DC5E3-0949-4E44-999D-3DA2167772B2}">
      <dgm:prSet/>
      <dgm:spPr/>
      <dgm:t>
        <a:bodyPr/>
        <a:lstStyle/>
        <a:p>
          <a:endParaRPr lang="en-US"/>
        </a:p>
      </dgm:t>
    </dgm:pt>
    <dgm:pt modelId="{33882A03-5577-49CF-9C5D-66318A148A20}">
      <dgm:prSet phldrT="[Text]" custT="1"/>
      <dgm:spPr>
        <a:xfrm rot="5400000">
          <a:off x="5553921" y="-3141643"/>
          <a:ext cx="976067" cy="9981611"/>
        </a:xfrm>
        <a:prstGeom prst="round2Same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1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Source Sans Pro" panose="020B0503030403020204" pitchFamily="34" charset="0"/>
              <a:ea typeface="+mn-ea"/>
              <a:cs typeface="+mn-cs"/>
            </a:rPr>
            <a:t>Generate Climate Note from approved PDS CN and using MDB Paris Alignment Methodology</a:t>
          </a:r>
          <a:r>
            <a:rPr lang="en-US" sz="18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110004020202020204"/>
              <a:ea typeface="+mn-ea"/>
              <a:cs typeface="+mn-cs"/>
            </a:rPr>
            <a:t>.</a:t>
          </a:r>
        </a:p>
      </dgm:t>
    </dgm:pt>
    <dgm:pt modelId="{03C3B28D-7435-4A25-8E67-9557B3A3A417}" type="parTrans" cxnId="{2628172E-68F8-477D-A871-C9C5F402C5B5}">
      <dgm:prSet/>
      <dgm:spPr/>
      <dgm:t>
        <a:bodyPr/>
        <a:lstStyle/>
        <a:p>
          <a:endParaRPr lang="en-US"/>
        </a:p>
      </dgm:t>
    </dgm:pt>
    <dgm:pt modelId="{AD95DC19-64B2-46B4-8754-D655158A0EC5}" type="sibTrans" cxnId="{2628172E-68F8-477D-A871-C9C5F402C5B5}">
      <dgm:prSet/>
      <dgm:spPr/>
      <dgm:t>
        <a:bodyPr/>
        <a:lstStyle/>
        <a:p>
          <a:endParaRPr lang="en-US"/>
        </a:p>
      </dgm:t>
    </dgm:pt>
    <dgm:pt modelId="{1840026B-26FE-426E-9F2C-A323AE02A01F}">
      <dgm:prSet phldrT="[Text]" custT="1"/>
      <dgm:spPr>
        <a:xfrm rot="5400000">
          <a:off x="-225246" y="2943895"/>
          <a:ext cx="1501641" cy="1051149"/>
        </a:xfrm>
        <a:prstGeom prst="chevron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ysClr val="window" lastClr="FFFFFF"/>
              </a:solidFill>
              <a:latin typeface="Source Sans Pro" panose="020B0503030403020204" pitchFamily="34" charset="0"/>
              <a:ea typeface="+mn-ea"/>
              <a:cs typeface="+mn-cs"/>
            </a:rPr>
            <a:t>Investor Profile Report</a:t>
          </a:r>
        </a:p>
      </dgm:t>
    </dgm:pt>
    <dgm:pt modelId="{72F09443-1DC2-4912-A368-829074C6618C}" type="parTrans" cxnId="{5D1085DD-EAA7-4C6D-9D7D-97C3CCCCB812}">
      <dgm:prSet/>
      <dgm:spPr/>
      <dgm:t>
        <a:bodyPr/>
        <a:lstStyle/>
        <a:p>
          <a:endParaRPr lang="en-US"/>
        </a:p>
      </dgm:t>
    </dgm:pt>
    <dgm:pt modelId="{04869105-68C1-4FC6-A56F-FDAE462CE3C1}" type="sibTrans" cxnId="{5D1085DD-EAA7-4C6D-9D7D-97C3CCCCB812}">
      <dgm:prSet/>
      <dgm:spPr/>
      <dgm:t>
        <a:bodyPr/>
        <a:lstStyle/>
        <a:p>
          <a:endParaRPr lang="en-US"/>
        </a:p>
      </dgm:t>
    </dgm:pt>
    <dgm:pt modelId="{998D7BE0-E633-49A7-8448-775501C93BAE}">
      <dgm:prSet phldrT="[Text]" custT="1"/>
      <dgm:spPr>
        <a:xfrm rot="5400000">
          <a:off x="-225246" y="4301416"/>
          <a:ext cx="1501641" cy="1051149"/>
        </a:xfrm>
        <a:prstGeom prst="chevron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ysClr val="window" lastClr="FFFFFF"/>
              </a:solidFill>
              <a:latin typeface="Source Sans Pro" panose="020B0503030403020204" pitchFamily="34" charset="0"/>
              <a:ea typeface="+mn-ea"/>
              <a:cs typeface="+mn-cs"/>
            </a:rPr>
            <a:t>IRM to BP Generation</a:t>
          </a:r>
        </a:p>
      </dgm:t>
    </dgm:pt>
    <dgm:pt modelId="{0A3C479D-1F76-4DA9-9D4E-F34B9A363B19}" type="parTrans" cxnId="{023A3C48-776D-4F4D-893A-DC3CD4B2421B}">
      <dgm:prSet/>
      <dgm:spPr/>
      <dgm:t>
        <a:bodyPr/>
        <a:lstStyle/>
        <a:p>
          <a:endParaRPr lang="en-US"/>
        </a:p>
      </dgm:t>
    </dgm:pt>
    <dgm:pt modelId="{2BF0EDA4-86B5-409E-BB3B-C44DE8AD8241}" type="sibTrans" cxnId="{023A3C48-776D-4F4D-893A-DC3CD4B2421B}">
      <dgm:prSet/>
      <dgm:spPr/>
      <dgm:t>
        <a:bodyPr/>
        <a:lstStyle/>
        <a:p>
          <a:endParaRPr lang="en-US"/>
        </a:p>
      </dgm:t>
    </dgm:pt>
    <dgm:pt modelId="{6FB824F1-057A-4CEC-A9A6-EA643F70080E}">
      <dgm:prSet phldrT="[Text]" custT="1"/>
      <dgm:spPr>
        <a:xfrm rot="5400000">
          <a:off x="5553921" y="-426601"/>
          <a:ext cx="976067" cy="9981611"/>
        </a:xfrm>
        <a:prstGeom prst="round2Same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Source Sans Pro" panose="020B0503030403020204" pitchFamily="34" charset="0"/>
              <a:ea typeface="+mn-ea"/>
              <a:cs typeface="+mn-cs"/>
            </a:rPr>
            <a:t>Create Board Paper using consolidated Investment Review Meeting documents.</a:t>
          </a:r>
        </a:p>
      </dgm:t>
    </dgm:pt>
    <dgm:pt modelId="{50E69992-04F9-4FFD-90C8-174463BF7641}" type="parTrans" cxnId="{24F78446-40C9-4CAA-90E7-C8F664DCF3EC}">
      <dgm:prSet/>
      <dgm:spPr/>
      <dgm:t>
        <a:bodyPr/>
        <a:lstStyle/>
        <a:p>
          <a:endParaRPr lang="en-US"/>
        </a:p>
      </dgm:t>
    </dgm:pt>
    <dgm:pt modelId="{24A4660A-242D-423D-82CA-F3E73BDAA85D}" type="sibTrans" cxnId="{24F78446-40C9-4CAA-90E7-C8F664DCF3EC}">
      <dgm:prSet/>
      <dgm:spPr/>
      <dgm:t>
        <a:bodyPr/>
        <a:lstStyle/>
        <a:p>
          <a:endParaRPr lang="en-US"/>
        </a:p>
      </dgm:t>
    </dgm:pt>
    <dgm:pt modelId="{B10FAD4D-ED7D-4278-92B2-E69B0A1CCEBD}">
      <dgm:prSet custT="1"/>
      <dgm:spPr>
        <a:xfrm rot="5400000">
          <a:off x="5553921" y="-1784122"/>
          <a:ext cx="976067" cy="9981611"/>
        </a:xfrm>
        <a:prstGeom prst="round2Same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1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Source Sans Pro" panose="020B0503030403020204" pitchFamily="34" charset="0"/>
              <a:ea typeface="+mn-ea"/>
              <a:cs typeface="+mn-cs"/>
            </a:rPr>
            <a:t>AMC Investor Profile Report.</a:t>
          </a:r>
        </a:p>
      </dgm:t>
    </dgm:pt>
    <dgm:pt modelId="{8C1F0808-0B0C-454C-BEAC-059CC37C849C}" type="parTrans" cxnId="{5F7A0185-CD50-4F22-903C-2731538B3E26}">
      <dgm:prSet/>
      <dgm:spPr/>
      <dgm:t>
        <a:bodyPr/>
        <a:lstStyle/>
        <a:p>
          <a:endParaRPr lang="en-US"/>
        </a:p>
      </dgm:t>
    </dgm:pt>
    <dgm:pt modelId="{EE257DDE-4A8E-4DEE-9D53-754212E9E6E5}" type="sibTrans" cxnId="{5F7A0185-CD50-4F22-903C-2731538B3E26}">
      <dgm:prSet/>
      <dgm:spPr/>
      <dgm:t>
        <a:bodyPr/>
        <a:lstStyle/>
        <a:p>
          <a:endParaRPr lang="en-US"/>
        </a:p>
      </dgm:t>
    </dgm:pt>
    <dgm:pt modelId="{C0336FB5-686E-4C55-AE9F-92F48B1FEFA1}" type="pres">
      <dgm:prSet presAssocID="{66EC78F3-3EED-4AD7-B224-21111883C646}" presName="linearFlow" presStyleCnt="0">
        <dgm:presLayoutVars>
          <dgm:dir/>
          <dgm:animLvl val="lvl"/>
          <dgm:resizeHandles val="exact"/>
        </dgm:presLayoutVars>
      </dgm:prSet>
      <dgm:spPr/>
    </dgm:pt>
    <dgm:pt modelId="{8FDD5336-3CAE-4BD0-ACD5-2CB64320A6FD}" type="pres">
      <dgm:prSet presAssocID="{180F9891-ECBB-4A57-BC5B-5DBAA3176A16}" presName="composite" presStyleCnt="0"/>
      <dgm:spPr/>
    </dgm:pt>
    <dgm:pt modelId="{B3CFA71B-E442-46EF-B83A-978C66CAA456}" type="pres">
      <dgm:prSet presAssocID="{180F9891-ECBB-4A57-BC5B-5DBAA3176A16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09EC6102-478C-4AD1-9766-3CD784AD87DD}" type="pres">
      <dgm:prSet presAssocID="{180F9891-ECBB-4A57-BC5B-5DBAA3176A16}" presName="descendantText" presStyleLbl="alignAcc1" presStyleIdx="0" presStyleCnt="4" custLinFactNeighborX="864" custLinFactNeighborY="1768">
        <dgm:presLayoutVars>
          <dgm:bulletEnabled val="1"/>
        </dgm:presLayoutVars>
      </dgm:prSet>
      <dgm:spPr/>
    </dgm:pt>
    <dgm:pt modelId="{6A3F1659-A7FA-44CE-9206-33EA28909DE7}" type="pres">
      <dgm:prSet presAssocID="{684B2257-2FBB-4C90-BF2A-9A7F6ADB9297}" presName="sp" presStyleCnt="0"/>
      <dgm:spPr/>
    </dgm:pt>
    <dgm:pt modelId="{AA59FFC6-E5AE-4011-A6AE-DF2DBE112572}" type="pres">
      <dgm:prSet presAssocID="{A2E799E6-C08F-41B9-827A-3108F84FF15F}" presName="composite" presStyleCnt="0"/>
      <dgm:spPr/>
    </dgm:pt>
    <dgm:pt modelId="{3C07586F-8DC4-4A67-A04C-5AB0DDA663E4}" type="pres">
      <dgm:prSet presAssocID="{A2E799E6-C08F-41B9-827A-3108F84FF15F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0BF7F8F5-B50B-413A-958E-C51C26465C36}" type="pres">
      <dgm:prSet presAssocID="{A2E799E6-C08F-41B9-827A-3108F84FF15F}" presName="descendantText" presStyleLbl="alignAcc1" presStyleIdx="1" presStyleCnt="4">
        <dgm:presLayoutVars>
          <dgm:bulletEnabled val="1"/>
        </dgm:presLayoutVars>
      </dgm:prSet>
      <dgm:spPr/>
    </dgm:pt>
    <dgm:pt modelId="{0DA60415-E327-4F7D-8D8E-2F5C38ED4178}" type="pres">
      <dgm:prSet presAssocID="{6B138808-4782-45CB-8AEF-67A0C8FD675A}" presName="sp" presStyleCnt="0"/>
      <dgm:spPr/>
    </dgm:pt>
    <dgm:pt modelId="{1EE5E46D-24B2-4724-A9DF-AD2A334EF1AC}" type="pres">
      <dgm:prSet presAssocID="{1840026B-26FE-426E-9F2C-A323AE02A01F}" presName="composite" presStyleCnt="0"/>
      <dgm:spPr/>
    </dgm:pt>
    <dgm:pt modelId="{0891F185-75A0-4DFD-B79E-396FF40AE76B}" type="pres">
      <dgm:prSet presAssocID="{1840026B-26FE-426E-9F2C-A323AE02A01F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A5666532-972F-490E-879B-EEFE537AF7BC}" type="pres">
      <dgm:prSet presAssocID="{1840026B-26FE-426E-9F2C-A323AE02A01F}" presName="descendantText" presStyleLbl="alignAcc1" presStyleIdx="2" presStyleCnt="4">
        <dgm:presLayoutVars>
          <dgm:bulletEnabled val="1"/>
        </dgm:presLayoutVars>
      </dgm:prSet>
      <dgm:spPr/>
    </dgm:pt>
    <dgm:pt modelId="{764350A4-F6BC-41E0-A311-A324A944643C}" type="pres">
      <dgm:prSet presAssocID="{04869105-68C1-4FC6-A56F-FDAE462CE3C1}" presName="sp" presStyleCnt="0"/>
      <dgm:spPr/>
    </dgm:pt>
    <dgm:pt modelId="{A73D8475-CCB1-4611-9510-BBA008F3719C}" type="pres">
      <dgm:prSet presAssocID="{998D7BE0-E633-49A7-8448-775501C93BAE}" presName="composite" presStyleCnt="0"/>
      <dgm:spPr/>
    </dgm:pt>
    <dgm:pt modelId="{A44FAE1B-4C8D-4123-AB08-FD4AB82AC183}" type="pres">
      <dgm:prSet presAssocID="{998D7BE0-E633-49A7-8448-775501C93BAE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996408C4-83DB-4D02-BDBA-46146ED3ACA0}" type="pres">
      <dgm:prSet presAssocID="{998D7BE0-E633-49A7-8448-775501C93BAE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3CDA5E17-0F86-41FD-B0E6-155D36B424F7}" type="presOf" srcId="{B10FAD4D-ED7D-4278-92B2-E69B0A1CCEBD}" destId="{A5666532-972F-490E-879B-EEFE537AF7BC}" srcOrd="0" destOrd="0" presId="urn:microsoft.com/office/officeart/2005/8/layout/chevron2"/>
    <dgm:cxn modelId="{68017429-C16A-4901-977F-9D3B4199DB54}" type="presOf" srcId="{3BD388FD-A0E1-4CAA-ABAF-F202BC872CA8}" destId="{09EC6102-478C-4AD1-9766-3CD784AD87DD}" srcOrd="0" destOrd="0" presId="urn:microsoft.com/office/officeart/2005/8/layout/chevron2"/>
    <dgm:cxn modelId="{2EB0472B-4727-4651-8FDC-D650B9A9CE2D}" type="presOf" srcId="{1840026B-26FE-426E-9F2C-A323AE02A01F}" destId="{0891F185-75A0-4DFD-B79E-396FF40AE76B}" srcOrd="0" destOrd="0" presId="urn:microsoft.com/office/officeart/2005/8/layout/chevron2"/>
    <dgm:cxn modelId="{2628172E-68F8-477D-A871-C9C5F402C5B5}" srcId="{A2E799E6-C08F-41B9-827A-3108F84FF15F}" destId="{33882A03-5577-49CF-9C5D-66318A148A20}" srcOrd="0" destOrd="0" parTransId="{03C3B28D-7435-4A25-8E67-9557B3A3A417}" sibTransId="{AD95DC19-64B2-46B4-8754-D655158A0EC5}"/>
    <dgm:cxn modelId="{0A274261-E462-43AC-B2AD-82EB2BC58564}" type="presOf" srcId="{A2E799E6-C08F-41B9-827A-3108F84FF15F}" destId="{3C07586F-8DC4-4A67-A04C-5AB0DDA663E4}" srcOrd="0" destOrd="0" presId="urn:microsoft.com/office/officeart/2005/8/layout/chevron2"/>
    <dgm:cxn modelId="{24F78446-40C9-4CAA-90E7-C8F664DCF3EC}" srcId="{998D7BE0-E633-49A7-8448-775501C93BAE}" destId="{6FB824F1-057A-4CEC-A9A6-EA643F70080E}" srcOrd="0" destOrd="0" parTransId="{50E69992-04F9-4FFD-90C8-174463BF7641}" sibTransId="{24A4660A-242D-423D-82CA-F3E73BDAA85D}"/>
    <dgm:cxn modelId="{023A3C48-776D-4F4D-893A-DC3CD4B2421B}" srcId="{66EC78F3-3EED-4AD7-B224-21111883C646}" destId="{998D7BE0-E633-49A7-8448-775501C93BAE}" srcOrd="3" destOrd="0" parTransId="{0A3C479D-1F76-4DA9-9D4E-F34B9A363B19}" sibTransId="{2BF0EDA4-86B5-409E-BB3B-C44DE8AD8241}"/>
    <dgm:cxn modelId="{6CEC216E-EB13-4225-9EE7-3B8EE648CBB0}" type="presOf" srcId="{6FB824F1-057A-4CEC-A9A6-EA643F70080E}" destId="{996408C4-83DB-4D02-BDBA-46146ED3ACA0}" srcOrd="0" destOrd="0" presId="urn:microsoft.com/office/officeart/2005/8/layout/chevron2"/>
    <dgm:cxn modelId="{5F7A0185-CD50-4F22-903C-2731538B3E26}" srcId="{1840026B-26FE-426E-9F2C-A323AE02A01F}" destId="{B10FAD4D-ED7D-4278-92B2-E69B0A1CCEBD}" srcOrd="0" destOrd="0" parTransId="{8C1F0808-0B0C-454C-BEAC-059CC37C849C}" sibTransId="{EE257DDE-4A8E-4DEE-9D53-754212E9E6E5}"/>
    <dgm:cxn modelId="{00EF318B-51EB-44B4-B756-FBB1BCD8F21C}" srcId="{66EC78F3-3EED-4AD7-B224-21111883C646}" destId="{180F9891-ECBB-4A57-BC5B-5DBAA3176A16}" srcOrd="0" destOrd="0" parTransId="{8C13A621-BEE9-4F3A-9659-4D570EF5F027}" sibTransId="{684B2257-2FBB-4C90-BF2A-9A7F6ADB9297}"/>
    <dgm:cxn modelId="{9829B8A3-FF79-46D1-89C4-2FC7C123E1C3}" type="presOf" srcId="{33882A03-5577-49CF-9C5D-66318A148A20}" destId="{0BF7F8F5-B50B-413A-958E-C51C26465C36}" srcOrd="0" destOrd="0" presId="urn:microsoft.com/office/officeart/2005/8/layout/chevron2"/>
    <dgm:cxn modelId="{B919A2BE-EF28-494E-A2AF-7F6AA9A96406}" srcId="{180F9891-ECBB-4A57-BC5B-5DBAA3176A16}" destId="{3BD388FD-A0E1-4CAA-ABAF-F202BC872CA8}" srcOrd="0" destOrd="0" parTransId="{4A2F0C4C-9090-4635-938F-3A86D6FA68F2}" sibTransId="{54882D8D-AFD2-45D4-99BF-464F9799BD6F}"/>
    <dgm:cxn modelId="{7CE178D6-8DBC-4DE8-BBE4-2CDF2A909C73}" type="presOf" srcId="{180F9891-ECBB-4A57-BC5B-5DBAA3176A16}" destId="{B3CFA71B-E442-46EF-B83A-978C66CAA456}" srcOrd="0" destOrd="0" presId="urn:microsoft.com/office/officeart/2005/8/layout/chevron2"/>
    <dgm:cxn modelId="{5D1085DD-EAA7-4C6D-9D7D-97C3CCCCB812}" srcId="{66EC78F3-3EED-4AD7-B224-21111883C646}" destId="{1840026B-26FE-426E-9F2C-A323AE02A01F}" srcOrd="2" destOrd="0" parTransId="{72F09443-1DC2-4912-A368-829074C6618C}" sibTransId="{04869105-68C1-4FC6-A56F-FDAE462CE3C1}"/>
    <dgm:cxn modelId="{61F44CDF-F222-4EDB-A9C5-D2796CD7C93E}" type="presOf" srcId="{66EC78F3-3EED-4AD7-B224-21111883C646}" destId="{C0336FB5-686E-4C55-AE9F-92F48B1FEFA1}" srcOrd="0" destOrd="0" presId="urn:microsoft.com/office/officeart/2005/8/layout/chevron2"/>
    <dgm:cxn modelId="{829DC5E3-0949-4E44-999D-3DA2167772B2}" srcId="{66EC78F3-3EED-4AD7-B224-21111883C646}" destId="{A2E799E6-C08F-41B9-827A-3108F84FF15F}" srcOrd="1" destOrd="0" parTransId="{9F164C4D-9761-4D3D-B655-E9C32CBC5CA5}" sibTransId="{6B138808-4782-45CB-8AEF-67A0C8FD675A}"/>
    <dgm:cxn modelId="{C82474FC-5C0E-4FEE-A8C8-D1F81BEFBE99}" type="presOf" srcId="{998D7BE0-E633-49A7-8448-775501C93BAE}" destId="{A44FAE1B-4C8D-4123-AB08-FD4AB82AC183}" srcOrd="0" destOrd="0" presId="urn:microsoft.com/office/officeart/2005/8/layout/chevron2"/>
    <dgm:cxn modelId="{338DC05A-1F23-49A4-8697-96926C33F123}" type="presParOf" srcId="{C0336FB5-686E-4C55-AE9F-92F48B1FEFA1}" destId="{8FDD5336-3CAE-4BD0-ACD5-2CB64320A6FD}" srcOrd="0" destOrd="0" presId="urn:microsoft.com/office/officeart/2005/8/layout/chevron2"/>
    <dgm:cxn modelId="{D6CA4A9A-01D8-48EE-8A89-3F05C2584982}" type="presParOf" srcId="{8FDD5336-3CAE-4BD0-ACD5-2CB64320A6FD}" destId="{B3CFA71B-E442-46EF-B83A-978C66CAA456}" srcOrd="0" destOrd="0" presId="urn:microsoft.com/office/officeart/2005/8/layout/chevron2"/>
    <dgm:cxn modelId="{75279B31-C23A-487A-84F5-4D3800637F71}" type="presParOf" srcId="{8FDD5336-3CAE-4BD0-ACD5-2CB64320A6FD}" destId="{09EC6102-478C-4AD1-9766-3CD784AD87DD}" srcOrd="1" destOrd="0" presId="urn:microsoft.com/office/officeart/2005/8/layout/chevron2"/>
    <dgm:cxn modelId="{61183FA3-FDA4-4268-921A-804EC407AE9F}" type="presParOf" srcId="{C0336FB5-686E-4C55-AE9F-92F48B1FEFA1}" destId="{6A3F1659-A7FA-44CE-9206-33EA28909DE7}" srcOrd="1" destOrd="0" presId="urn:microsoft.com/office/officeart/2005/8/layout/chevron2"/>
    <dgm:cxn modelId="{D71FE3F0-5AE1-4C0C-ABAF-BDDA651DAC63}" type="presParOf" srcId="{C0336FB5-686E-4C55-AE9F-92F48B1FEFA1}" destId="{AA59FFC6-E5AE-4011-A6AE-DF2DBE112572}" srcOrd="2" destOrd="0" presId="urn:microsoft.com/office/officeart/2005/8/layout/chevron2"/>
    <dgm:cxn modelId="{9D91725E-F6D3-41EC-BBAF-F26D32839756}" type="presParOf" srcId="{AA59FFC6-E5AE-4011-A6AE-DF2DBE112572}" destId="{3C07586F-8DC4-4A67-A04C-5AB0DDA663E4}" srcOrd="0" destOrd="0" presId="urn:microsoft.com/office/officeart/2005/8/layout/chevron2"/>
    <dgm:cxn modelId="{B8D5A42C-D3EA-47A0-89E6-3C187F803634}" type="presParOf" srcId="{AA59FFC6-E5AE-4011-A6AE-DF2DBE112572}" destId="{0BF7F8F5-B50B-413A-958E-C51C26465C36}" srcOrd="1" destOrd="0" presId="urn:microsoft.com/office/officeart/2005/8/layout/chevron2"/>
    <dgm:cxn modelId="{F1D16A0E-EDD6-4A8A-982F-62FF33183A28}" type="presParOf" srcId="{C0336FB5-686E-4C55-AE9F-92F48B1FEFA1}" destId="{0DA60415-E327-4F7D-8D8E-2F5C38ED4178}" srcOrd="3" destOrd="0" presId="urn:microsoft.com/office/officeart/2005/8/layout/chevron2"/>
    <dgm:cxn modelId="{2A9DAF74-6FC4-4D06-8330-6128942D2CFB}" type="presParOf" srcId="{C0336FB5-686E-4C55-AE9F-92F48B1FEFA1}" destId="{1EE5E46D-24B2-4724-A9DF-AD2A334EF1AC}" srcOrd="4" destOrd="0" presId="urn:microsoft.com/office/officeart/2005/8/layout/chevron2"/>
    <dgm:cxn modelId="{08C63B9F-FC80-4484-96AC-093918733CEE}" type="presParOf" srcId="{1EE5E46D-24B2-4724-A9DF-AD2A334EF1AC}" destId="{0891F185-75A0-4DFD-B79E-396FF40AE76B}" srcOrd="0" destOrd="0" presId="urn:microsoft.com/office/officeart/2005/8/layout/chevron2"/>
    <dgm:cxn modelId="{5F310161-1DD3-4B0D-BCCC-B897A8A21716}" type="presParOf" srcId="{1EE5E46D-24B2-4724-A9DF-AD2A334EF1AC}" destId="{A5666532-972F-490E-879B-EEFE537AF7BC}" srcOrd="1" destOrd="0" presId="urn:microsoft.com/office/officeart/2005/8/layout/chevron2"/>
    <dgm:cxn modelId="{AC7EB99D-26F2-4FC0-87C1-32B716BB550D}" type="presParOf" srcId="{C0336FB5-686E-4C55-AE9F-92F48B1FEFA1}" destId="{764350A4-F6BC-41E0-A311-A324A944643C}" srcOrd="5" destOrd="0" presId="urn:microsoft.com/office/officeart/2005/8/layout/chevron2"/>
    <dgm:cxn modelId="{9005A10A-C00B-49ED-99E1-D20180DDBBA3}" type="presParOf" srcId="{C0336FB5-686E-4C55-AE9F-92F48B1FEFA1}" destId="{A73D8475-CCB1-4611-9510-BBA008F3719C}" srcOrd="6" destOrd="0" presId="urn:microsoft.com/office/officeart/2005/8/layout/chevron2"/>
    <dgm:cxn modelId="{3299FF77-CC97-4A11-ACDE-4C67C54E1DD5}" type="presParOf" srcId="{A73D8475-CCB1-4611-9510-BBA008F3719C}" destId="{A44FAE1B-4C8D-4123-AB08-FD4AB82AC183}" srcOrd="0" destOrd="0" presId="urn:microsoft.com/office/officeart/2005/8/layout/chevron2"/>
    <dgm:cxn modelId="{DF1BCEFB-C98A-4BCA-88C5-9963DC3D85DC}" type="presParOf" srcId="{A73D8475-CCB1-4611-9510-BBA008F3719C}" destId="{996408C4-83DB-4D02-BDBA-46146ED3ACA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CFA71B-E442-46EF-B83A-978C66CAA456}">
      <dsp:nvSpPr>
        <dsp:cNvPr id="0" name=""/>
        <dsp:cNvSpPr/>
      </dsp:nvSpPr>
      <dsp:spPr>
        <a:xfrm rot="5400000">
          <a:off x="-225026" y="231355"/>
          <a:ext cx="1500175" cy="1050122"/>
        </a:xfrm>
        <a:prstGeom prst="chevron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ysClr val="window" lastClr="FFFFFF"/>
              </a:solidFill>
              <a:latin typeface="Source Sans Pro" panose="020B0503030403020204" pitchFamily="34" charset="0"/>
              <a:ea typeface="+mn-ea"/>
              <a:cs typeface="+mn-cs"/>
            </a:rPr>
            <a:t>Insurance Policy</a:t>
          </a:r>
        </a:p>
      </dsp:txBody>
      <dsp:txXfrm rot="-5400000">
        <a:off x="1" y="531389"/>
        <a:ext cx="1050122" cy="450053"/>
      </dsp:txXfrm>
    </dsp:sp>
    <dsp:sp modelId="{09EC6102-478C-4AD1-9766-3CD784AD87DD}">
      <dsp:nvSpPr>
        <dsp:cNvPr id="0" name=""/>
        <dsp:cNvSpPr/>
      </dsp:nvSpPr>
      <dsp:spPr>
        <a:xfrm rot="5400000">
          <a:off x="5553884" y="-4497432"/>
          <a:ext cx="975113" cy="9982638"/>
        </a:xfrm>
        <a:prstGeom prst="round2Same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Source Sans Pro" panose="020B0503030403020204" pitchFamily="34" charset="0"/>
              <a:ea typeface="+mn-ea"/>
              <a:cs typeface="+mn-cs"/>
            </a:rPr>
            <a:t>This is used to extract various data point from the insurance policy that are submitted for IFC. project.</a:t>
          </a:r>
        </a:p>
      </dsp:txBody>
      <dsp:txXfrm rot="-5400000">
        <a:off x="1050122" y="53931"/>
        <a:ext cx="9935037" cy="879911"/>
      </dsp:txXfrm>
    </dsp:sp>
    <dsp:sp modelId="{3C07586F-8DC4-4A67-A04C-5AB0DDA663E4}">
      <dsp:nvSpPr>
        <dsp:cNvPr id="0" name=""/>
        <dsp:cNvSpPr/>
      </dsp:nvSpPr>
      <dsp:spPr>
        <a:xfrm rot="5400000">
          <a:off x="-225026" y="1587551"/>
          <a:ext cx="1500175" cy="1050122"/>
        </a:xfrm>
        <a:prstGeom prst="chevron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ysClr val="window" lastClr="FFFFFF"/>
              </a:solidFill>
              <a:latin typeface="Source Sans Pro" panose="020B0503030403020204" pitchFamily="34" charset="0"/>
              <a:ea typeface="+mn-ea"/>
              <a:cs typeface="+mn-cs"/>
            </a:rPr>
            <a:t>Blended Finance Guarantee Agreements</a:t>
          </a:r>
        </a:p>
      </dsp:txBody>
      <dsp:txXfrm rot="-5400000">
        <a:off x="1" y="1887585"/>
        <a:ext cx="1050122" cy="450053"/>
      </dsp:txXfrm>
    </dsp:sp>
    <dsp:sp modelId="{0BF7F8F5-B50B-413A-958E-C51C26465C36}">
      <dsp:nvSpPr>
        <dsp:cNvPr id="0" name=""/>
        <dsp:cNvSpPr/>
      </dsp:nvSpPr>
      <dsp:spPr>
        <a:xfrm rot="5400000">
          <a:off x="5553628" y="-3140981"/>
          <a:ext cx="975626" cy="9982638"/>
        </a:xfrm>
        <a:prstGeom prst="round2Same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Source Sans Pro" panose="020B0503030403020204" pitchFamily="34" charset="0"/>
              <a:ea typeface="+mn-ea"/>
              <a:cs typeface="+mn-cs"/>
            </a:rPr>
            <a:t>Analysis of Legal documents pertaining to Blended Finance.</a:t>
          </a:r>
        </a:p>
      </dsp:txBody>
      <dsp:txXfrm rot="-5400000">
        <a:off x="1050122" y="1410151"/>
        <a:ext cx="9935012" cy="880374"/>
      </dsp:txXfrm>
    </dsp:sp>
    <dsp:sp modelId="{0891F185-75A0-4DFD-B79E-396FF40AE76B}">
      <dsp:nvSpPr>
        <dsp:cNvPr id="0" name=""/>
        <dsp:cNvSpPr/>
      </dsp:nvSpPr>
      <dsp:spPr>
        <a:xfrm rot="5400000">
          <a:off x="-225026" y="2943746"/>
          <a:ext cx="1500175" cy="1050122"/>
        </a:xfrm>
        <a:prstGeom prst="chevron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ysClr val="window" lastClr="FFFFFF"/>
              </a:solidFill>
              <a:latin typeface="Source Sans Pro" panose="020B0503030403020204" pitchFamily="34" charset="0"/>
              <a:ea typeface="+mn-ea"/>
              <a:cs typeface="+mn-cs"/>
            </a:rPr>
            <a:t>Gender Flag Analysis</a:t>
          </a:r>
        </a:p>
      </dsp:txBody>
      <dsp:txXfrm rot="-5400000">
        <a:off x="1" y="3243780"/>
        <a:ext cx="1050122" cy="450053"/>
      </dsp:txXfrm>
    </dsp:sp>
    <dsp:sp modelId="{A5666532-972F-490E-879B-EEFE537AF7BC}">
      <dsp:nvSpPr>
        <dsp:cNvPr id="0" name=""/>
        <dsp:cNvSpPr/>
      </dsp:nvSpPr>
      <dsp:spPr>
        <a:xfrm rot="5400000">
          <a:off x="5553884" y="-1785042"/>
          <a:ext cx="975113" cy="9982638"/>
        </a:xfrm>
        <a:prstGeom prst="round2Same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Source Sans Pro" panose="020B0503030403020204" pitchFamily="34" charset="0"/>
              <a:ea typeface="+mn-ea"/>
              <a:cs typeface="+mn-cs"/>
            </a:rPr>
            <a:t>Analysis of gender flags in an Investment Board Paper.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Source Sans Pro" panose="020B0503030403020204" pitchFamily="34" charset="0"/>
              <a:ea typeface="+mn-ea"/>
              <a:cs typeface="+mn-cs"/>
            </a:rPr>
            <a:t>The response contains - Gender Gaps identified in the board paper, Interventions by the IFC to address the Gender gaps and relevant indicators for every Gender Gap.</a:t>
          </a:r>
        </a:p>
      </dsp:txBody>
      <dsp:txXfrm rot="-5400000">
        <a:off x="1050122" y="2766321"/>
        <a:ext cx="9935037" cy="879911"/>
      </dsp:txXfrm>
    </dsp:sp>
    <dsp:sp modelId="{A44FAE1B-4C8D-4123-AB08-FD4AB82AC183}">
      <dsp:nvSpPr>
        <dsp:cNvPr id="0" name=""/>
        <dsp:cNvSpPr/>
      </dsp:nvSpPr>
      <dsp:spPr>
        <a:xfrm rot="5400000">
          <a:off x="-225026" y="4299941"/>
          <a:ext cx="1500175" cy="1050122"/>
        </a:xfrm>
        <a:prstGeom prst="chevron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ysClr val="window" lastClr="FFFFFF"/>
              </a:solidFill>
              <a:latin typeface="Source Sans Pro" panose="020B0503030403020204" pitchFamily="34" charset="0"/>
              <a:ea typeface="+mn-ea"/>
              <a:cs typeface="+mn-cs"/>
            </a:rPr>
            <a:t>MCT News Generation</a:t>
          </a:r>
        </a:p>
      </dsp:txBody>
      <dsp:txXfrm rot="-5400000">
        <a:off x="1" y="4599975"/>
        <a:ext cx="1050122" cy="450053"/>
      </dsp:txXfrm>
    </dsp:sp>
    <dsp:sp modelId="{996408C4-83DB-4D02-BDBA-46146ED3ACA0}">
      <dsp:nvSpPr>
        <dsp:cNvPr id="0" name=""/>
        <dsp:cNvSpPr/>
      </dsp:nvSpPr>
      <dsp:spPr>
        <a:xfrm rot="5400000">
          <a:off x="5553884" y="-428847"/>
          <a:ext cx="975113" cy="9982638"/>
        </a:xfrm>
        <a:prstGeom prst="round2Same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Source Sans Pro" panose="020B0503030403020204" pitchFamily="34" charset="0"/>
              <a:ea typeface="+mn-ea"/>
              <a:cs typeface="+mn-cs"/>
            </a:rPr>
            <a:t>Used to generate Monthly country updates for MCT region by reading various news article.</a:t>
          </a:r>
        </a:p>
      </dsp:txBody>
      <dsp:txXfrm rot="-5400000">
        <a:off x="1050122" y="4122516"/>
        <a:ext cx="9935037" cy="8799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CFA71B-E442-46EF-B83A-978C66CAA456}">
      <dsp:nvSpPr>
        <dsp:cNvPr id="0" name=""/>
        <dsp:cNvSpPr/>
      </dsp:nvSpPr>
      <dsp:spPr>
        <a:xfrm rot="5400000">
          <a:off x="-225246" y="228854"/>
          <a:ext cx="1501641" cy="1051149"/>
        </a:xfrm>
        <a:prstGeom prst="chevron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ysClr val="window" lastClr="FFFFFF"/>
              </a:solidFill>
              <a:latin typeface="Source Sans Pro" panose="020B0503030403020204" pitchFamily="34" charset="0"/>
              <a:ea typeface="+mn-ea"/>
              <a:cs typeface="+mn-cs"/>
            </a:rPr>
            <a:t>Donor Report</a:t>
          </a:r>
        </a:p>
      </dsp:txBody>
      <dsp:txXfrm rot="-5400000">
        <a:off x="1" y="529183"/>
        <a:ext cx="1051149" cy="450492"/>
      </dsp:txXfrm>
    </dsp:sp>
    <dsp:sp modelId="{09EC6102-478C-4AD1-9766-3CD784AD87DD}">
      <dsp:nvSpPr>
        <dsp:cNvPr id="0" name=""/>
        <dsp:cNvSpPr/>
      </dsp:nvSpPr>
      <dsp:spPr>
        <a:xfrm rot="5400000">
          <a:off x="5553921" y="-4481907"/>
          <a:ext cx="976067" cy="9981611"/>
        </a:xfrm>
        <a:prstGeom prst="round2Same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Source Sans Pro" panose="020B0503030403020204" pitchFamily="34" charset="0"/>
              <a:ea typeface="+mn-ea"/>
              <a:cs typeface="+mn-cs"/>
            </a:rPr>
            <a:t>This space is to create a first draft for a project write up to be used for donor reporting.</a:t>
          </a:r>
        </a:p>
      </dsp:txBody>
      <dsp:txXfrm rot="-5400000">
        <a:off x="1051149" y="68513"/>
        <a:ext cx="9933963" cy="880771"/>
      </dsp:txXfrm>
    </dsp:sp>
    <dsp:sp modelId="{3C07586F-8DC4-4A67-A04C-5AB0DDA663E4}">
      <dsp:nvSpPr>
        <dsp:cNvPr id="0" name=""/>
        <dsp:cNvSpPr/>
      </dsp:nvSpPr>
      <dsp:spPr>
        <a:xfrm rot="5400000">
          <a:off x="-225246" y="1586374"/>
          <a:ext cx="1501641" cy="1051149"/>
        </a:xfrm>
        <a:prstGeom prst="chevron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ysClr val="window" lastClr="FFFFFF"/>
              </a:solidFill>
              <a:latin typeface="Source Sans Pro" panose="020B0503030403020204" pitchFamily="34" charset="0"/>
              <a:ea typeface="+mn-ea"/>
              <a:cs typeface="+mn-cs"/>
            </a:rPr>
            <a:t>Climate Note - Paris Alignment</a:t>
          </a:r>
        </a:p>
      </dsp:txBody>
      <dsp:txXfrm rot="-5400000">
        <a:off x="1" y="1886703"/>
        <a:ext cx="1051149" cy="450492"/>
      </dsp:txXfrm>
    </dsp:sp>
    <dsp:sp modelId="{0BF7F8F5-B50B-413A-958E-C51C26465C36}">
      <dsp:nvSpPr>
        <dsp:cNvPr id="0" name=""/>
        <dsp:cNvSpPr/>
      </dsp:nvSpPr>
      <dsp:spPr>
        <a:xfrm rot="5400000">
          <a:off x="5553921" y="-3141643"/>
          <a:ext cx="976067" cy="9981611"/>
        </a:xfrm>
        <a:prstGeom prst="round2Same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Source Sans Pro" panose="020B0503030403020204" pitchFamily="34" charset="0"/>
              <a:ea typeface="+mn-ea"/>
              <a:cs typeface="+mn-cs"/>
            </a:rPr>
            <a:t>Generate Climate Note from approved PDS CN and using MDB Paris Alignment Methodology</a:t>
          </a:r>
          <a:r>
            <a:rPr lang="en-US" sz="18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110004020202020204"/>
              <a:ea typeface="+mn-ea"/>
              <a:cs typeface="+mn-cs"/>
            </a:rPr>
            <a:t>.</a:t>
          </a:r>
        </a:p>
      </dsp:txBody>
      <dsp:txXfrm rot="-5400000">
        <a:off x="1051149" y="1408777"/>
        <a:ext cx="9933963" cy="880771"/>
      </dsp:txXfrm>
    </dsp:sp>
    <dsp:sp modelId="{0891F185-75A0-4DFD-B79E-396FF40AE76B}">
      <dsp:nvSpPr>
        <dsp:cNvPr id="0" name=""/>
        <dsp:cNvSpPr/>
      </dsp:nvSpPr>
      <dsp:spPr>
        <a:xfrm rot="5400000">
          <a:off x="-225246" y="2943895"/>
          <a:ext cx="1501641" cy="1051149"/>
        </a:xfrm>
        <a:prstGeom prst="chevron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ysClr val="window" lastClr="FFFFFF"/>
              </a:solidFill>
              <a:latin typeface="Source Sans Pro" panose="020B0503030403020204" pitchFamily="34" charset="0"/>
              <a:ea typeface="+mn-ea"/>
              <a:cs typeface="+mn-cs"/>
            </a:rPr>
            <a:t>Investor Profile Report</a:t>
          </a:r>
        </a:p>
      </dsp:txBody>
      <dsp:txXfrm rot="-5400000">
        <a:off x="1" y="3244224"/>
        <a:ext cx="1051149" cy="450492"/>
      </dsp:txXfrm>
    </dsp:sp>
    <dsp:sp modelId="{A5666532-972F-490E-879B-EEFE537AF7BC}">
      <dsp:nvSpPr>
        <dsp:cNvPr id="0" name=""/>
        <dsp:cNvSpPr/>
      </dsp:nvSpPr>
      <dsp:spPr>
        <a:xfrm rot="5400000">
          <a:off x="5553921" y="-1784122"/>
          <a:ext cx="976067" cy="9981611"/>
        </a:xfrm>
        <a:prstGeom prst="round2Same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Source Sans Pro" panose="020B0503030403020204" pitchFamily="34" charset="0"/>
              <a:ea typeface="+mn-ea"/>
              <a:cs typeface="+mn-cs"/>
            </a:rPr>
            <a:t>AMC Investor Profile Report.</a:t>
          </a:r>
        </a:p>
      </dsp:txBody>
      <dsp:txXfrm rot="-5400000">
        <a:off x="1051149" y="2766298"/>
        <a:ext cx="9933963" cy="880771"/>
      </dsp:txXfrm>
    </dsp:sp>
    <dsp:sp modelId="{A44FAE1B-4C8D-4123-AB08-FD4AB82AC183}">
      <dsp:nvSpPr>
        <dsp:cNvPr id="0" name=""/>
        <dsp:cNvSpPr/>
      </dsp:nvSpPr>
      <dsp:spPr>
        <a:xfrm rot="5400000">
          <a:off x="-225246" y="4301416"/>
          <a:ext cx="1501641" cy="1051149"/>
        </a:xfrm>
        <a:prstGeom prst="chevron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ysClr val="window" lastClr="FFFFFF"/>
              </a:solidFill>
              <a:latin typeface="Source Sans Pro" panose="020B0503030403020204" pitchFamily="34" charset="0"/>
              <a:ea typeface="+mn-ea"/>
              <a:cs typeface="+mn-cs"/>
            </a:rPr>
            <a:t>IRM to BP Generation</a:t>
          </a:r>
        </a:p>
      </dsp:txBody>
      <dsp:txXfrm rot="-5400000">
        <a:off x="1" y="4601745"/>
        <a:ext cx="1051149" cy="450492"/>
      </dsp:txXfrm>
    </dsp:sp>
    <dsp:sp modelId="{996408C4-83DB-4D02-BDBA-46146ED3ACA0}">
      <dsp:nvSpPr>
        <dsp:cNvPr id="0" name=""/>
        <dsp:cNvSpPr/>
      </dsp:nvSpPr>
      <dsp:spPr>
        <a:xfrm rot="5400000">
          <a:off x="5553921" y="-426601"/>
          <a:ext cx="976067" cy="9981611"/>
        </a:xfrm>
        <a:prstGeom prst="round2Same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9050" cap="flat" cmpd="sng" algn="ctr">
          <a:solidFill>
            <a:srgbClr val="156082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14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Source Sans Pro" panose="020B0503030403020204" pitchFamily="34" charset="0"/>
              <a:ea typeface="+mn-ea"/>
              <a:cs typeface="+mn-cs"/>
            </a:rPr>
            <a:t>Create Board Paper using consolidated Investment Review Meeting documents.</a:t>
          </a:r>
        </a:p>
      </dsp:txBody>
      <dsp:txXfrm rot="-5400000">
        <a:off x="1051149" y="4123819"/>
        <a:ext cx="9933963" cy="8807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A6B887-2BCE-4F96-9FB4-DA3B350C5D11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F9BD5F-9504-4DFD-AB38-FD5D18828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12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1EC7-9A06-0BED-B5B4-D1342D083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98CFD-56F3-B58A-717F-39F23370C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48F984-5231-E8D3-ABE3-69648C987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1EBCB-B9A6-128C-3AFB-1A3B1882B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0904F-3C04-4EF7-8F0E-B0A577280BE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9136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2C878-2923-4660-DAC5-AF6F6B4F7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BF6614-6974-7BCD-BACE-32E7D32E6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BBF755-1A7E-7170-2168-7B71000BE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CFEE8-0293-994C-A5AA-256F94AC4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931E1E-12E1-4593-A0DC-0593A074BF4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5333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FD6AE-B1C7-8A02-7A6C-7B3D66E50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8FE3D9-BC1C-09AB-21E2-C32E66761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DE281-36D2-1DF9-380C-5F98D2877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16635-377A-2E4F-2231-F841D3A32B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931E1E-12E1-4593-A0DC-0593A074BF4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6066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3E301-C6BB-B914-E3A7-9488CC8F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97E53E-9BB3-2D9C-07C7-5F22302F1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60DEC3-E431-9AC8-B981-CD10A3A10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05FE6-08C1-BF52-307F-1989A2A59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931E1E-12E1-4593-A0DC-0593A074BF4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1013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C2D21-F962-B4E6-9C85-C0A791EF4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78456-8914-0489-D74C-9E329546F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4CF201-96C9-2AF1-D096-4CE2D2405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40AED-A611-2A71-BCFE-84DC3F69A5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931E1E-12E1-4593-A0DC-0593A074BF4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1945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134A2-26FA-5216-13B4-4429558F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69873-9FE1-7CBD-66E6-132C46BE9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5EEAC8-CD9B-7127-BB38-D4FDA71E8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49607-1703-5735-5F25-3FCD2B719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0904F-3C04-4EF7-8F0E-B0A577280BE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373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9C585-D847-1FB7-F886-A7B2F410E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92D0E-C220-1EC9-2574-8A3124796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DCEB9-1B77-A699-86BA-98FFD833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6168B-470E-9289-04A6-9A102CE2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2B057-16A2-4C7E-A03D-206301E4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917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E5D9B-5F78-0B3C-45F0-AB891FFD6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429FE-6662-8B9F-13FA-40655E6F4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F7F2C-DBF2-6BE2-EB37-E5066DA0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5443B-6F07-0544-DA66-67C0C2B72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41920-A69C-1BCC-46D3-150263389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522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2E936-5723-28EF-8365-0F2FA87A6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644CD-08F3-3EE7-32DE-D5CE36F3D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7BB1A-C9BB-8A50-D189-0A3B380AC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E49A4-3AA8-3DEF-8D97-326859B6C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AFE1F-9E3D-C40B-8C8E-5E05C8DEB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042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A9C94-3D13-2C87-17DF-C0A098E44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65664-A104-3C7E-72F1-B5E5B77D4A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9CCB5-27B2-22BE-0E37-A07D9046E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9C0F1-5E48-967A-8A91-E59F2CA1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790A8-2B90-C6E2-798B-E19700669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8847E-F137-F9DA-20F8-0D5340129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23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60AAF-1F3F-4EE8-13F4-0D006BDE7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FD640-5C03-591A-24D2-873B57555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B44EB-30F8-E670-C510-B7F9C4F5C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0B0036-04AC-4727-D4E3-71F959020F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CB2978-2BE1-2049-4A2D-BD4A7C8D50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860FB5-68F2-37E6-1B87-27046510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EC050B-1AE0-A74C-EAF4-DF51F497A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2B9BAF-D413-BE9F-00E4-AC510CBE9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528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F3050-9A2B-6128-3525-8FB320531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A4FCA-3E07-5F23-F6C3-46E561930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E1430F-066B-E775-9B97-FC427B2B6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AD7BC1-76A2-F417-9C53-57E26A19D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333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7E4E6-7893-8E12-1304-2BD691509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CCE203-8D65-58FD-2CEB-A035D457E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4E64D-F9A5-AA73-D32E-9D4EB33F6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30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B6C75-AFDB-057A-FBD8-4A60D3880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384B2-7D2F-F1CB-8CF5-626E2B0FE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2C81A-0CAE-4CBE-6435-5B890FC6B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32A44-9490-7A02-2F59-7A465517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67B10-770F-3EB8-E0FB-67760B984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A1A55-D6CD-507B-D479-6CE6AA14D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125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761A8-8E38-BFCC-9E07-203EC5407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22C319-C2EE-BAFC-35CD-E37F0F8A6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F08A7-0083-8E38-ECF9-28B75168C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61E93-AF3B-C404-7E7E-70627CC6A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7BA7B-7DFE-BB2E-13C1-B30E74C86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5ACBB-FF25-560C-9490-A20C5B3BB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604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7A88F-63FE-2AF3-AE99-013AB1838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92EB5-5355-A7BF-5A0E-B35F094373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B4EC4-6FD5-42D3-D5D4-AEE5B8BF9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20093-7A01-C766-B294-1561DA80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21D27-5B23-64FC-85BD-3D66BA5EE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276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68DB96-33C6-38A5-F48B-40465FE5DF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C3A7D5-DDA2-BE7F-EE69-F70BADAD4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B0284-A2C0-81B9-E665-0E2C182CF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41BA-863E-44F1-89AE-96467472542C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4E76E-66CC-6605-E9F0-3C8CAE6DA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0EE7E-6ADB-F88D-604A-3F3616D71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676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5E0A6A-C63F-CD81-C93D-C62562459A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"/>
            <a:ext cx="12192000" cy="685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84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E76FAF6-5426-E750-1142-36F4638FD0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7680" y="982146"/>
            <a:ext cx="11201398" cy="2978005"/>
          </a:xfrm>
        </p:spPr>
        <p:txBody>
          <a:bodyPr numCol="3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+mn-ea"/>
                <a:cs typeface="Segoe UI Light" panose="020B0502040204020203" pitchFamily="34" charset="0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+mn-ea"/>
                <a:cs typeface="Segoe UI Light" panose="020B0502040204020203" pitchFamily="34" charset="0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+mn-ea"/>
                <a:cs typeface="Segoe UI Light" panose="020B0502040204020203" pitchFamily="34" charset="0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cs typeface="Segoe UI Light" panose="020B0502040204020203" pitchFamily="34" charset="0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cs typeface="Segoe UI Light" panose="020B0502040204020203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8952F43-EC30-3F62-08BB-F8F94C98B5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680" y="345775"/>
            <a:ext cx="11201399" cy="434975"/>
          </a:xfrm>
        </p:spPr>
        <p:txBody>
          <a:bodyPr vert="horz" lIns="91440" tIns="45720" rIns="91440" bIns="45720" rtlCol="0">
            <a:noAutofit/>
          </a:bodyPr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800" kern="1200" dirty="0">
                <a:gradFill flip="none" rotWithShape="1">
                  <a:gsLst>
                    <a:gs pos="88000">
                      <a:srgbClr val="0F99E2"/>
                    </a:gs>
                    <a:gs pos="1000">
                      <a:srgbClr val="4B0082"/>
                    </a:gs>
                  </a:gsLst>
                  <a:lin ang="13800000" scaled="0"/>
                  <a:tileRect/>
                </a:gradFill>
                <a:latin typeface="Source Sans Pro" panose="020B050303040302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1136779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5E0A6A-C63F-CD81-C93D-C62562459A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"/>
            <a:ext cx="12192000" cy="685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87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B070075-0A2F-24D2-1F82-527C5A3812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2020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9ED388-3F67-D1B3-27A6-B7C160C452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638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9ED388-3F67-D1B3-27A6-B7C160C452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9029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9ED388-3F67-D1B3-27A6-B7C160C452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488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D7C2EB-5974-2F5F-9BAC-AA3C0DD403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850AE5-D07E-BB0E-585D-606F9915814C}"/>
              </a:ext>
            </a:extLst>
          </p:cNvPr>
          <p:cNvSpPr txBox="1"/>
          <p:nvPr userDrawn="1"/>
        </p:nvSpPr>
        <p:spPr>
          <a:xfrm>
            <a:off x="7571740" y="6444594"/>
            <a:ext cx="3867490" cy="2182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US" sz="800">
                <a:solidFill>
                  <a:srgbClr val="97A0A4"/>
                </a:solidFill>
                <a:effectLst/>
                <a:latin typeface="Source Sans Pro" panose="020B0503030403020204" pitchFamily="34" charset="0"/>
                <a:ea typeface="Frutiger LT Pro 45 Light" panose="020B0403030504020204" pitchFamily="34" charset="77"/>
                <a:cs typeface="Calibri" panose="020F0502020204030204" pitchFamily="34" charset="0"/>
              </a:rPr>
              <a:t>©LTIMindtree | Privileged and Confidential 2025</a:t>
            </a:r>
            <a:endParaRPr lang="en-IN" sz="800">
              <a:solidFill>
                <a:srgbClr val="595959"/>
              </a:solidFill>
              <a:effectLst/>
              <a:latin typeface="Source Sans Pro" panose="020B0503030403020204" pitchFamily="34" charset="0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8A17A01F-8104-E179-0770-B00B641CED62}"/>
              </a:ext>
            </a:extLst>
          </p:cNvPr>
          <p:cNvSpPr txBox="1">
            <a:spLocks/>
          </p:cNvSpPr>
          <p:nvPr userDrawn="1"/>
        </p:nvSpPr>
        <p:spPr>
          <a:xfrm>
            <a:off x="11353800" y="6440394"/>
            <a:ext cx="398178" cy="217624"/>
          </a:xfrm>
          <a:prstGeom prst="rect">
            <a:avLst/>
          </a:prstGeom>
        </p:spPr>
        <p:txBody>
          <a:bodyPr lIns="104891" tIns="52445" rIns="104891" bIns="524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800" b="0" smtClean="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cs typeface="Calibri" panose="020F0502020204030204" pitchFamily="34" charset="0"/>
              </a:rPr>
              <a:pPr algn="r"/>
              <a:t>‹#›</a:t>
            </a:fld>
            <a:endParaRPr lang="en-US" sz="800" b="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D6A6055-F142-F3AA-B14B-C64975BAC5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245" y="6375556"/>
            <a:ext cx="937708" cy="247937"/>
          </a:xfrm>
          <a:prstGeom prst="rect">
            <a:avLst/>
          </a:prstGeom>
        </p:spPr>
      </p:pic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C8CF82F-C211-374C-9759-13260B2E77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680" y="345775"/>
            <a:ext cx="11201399" cy="434975"/>
          </a:xfr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 dirty="0">
                <a:gradFill flip="none" rotWithShape="1">
                  <a:gsLst>
                    <a:gs pos="88000">
                      <a:srgbClr val="22CCFA"/>
                    </a:gs>
                    <a:gs pos="0">
                      <a:srgbClr val="AD3FFF"/>
                    </a:gs>
                  </a:gsLst>
                  <a:lin ang="13800000" scaled="0"/>
                  <a:tileRect/>
                </a:gradFill>
                <a:latin typeface="Source Sans Pro" panose="020B050303040302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6121999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D7C2EB-5974-2F5F-9BAC-AA3C0DD403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BAA0E27-1F4E-AE04-330C-681B253AD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7680" y="982146"/>
            <a:ext cx="11201398" cy="2978005"/>
          </a:xfrm>
        </p:spPr>
        <p:txBody>
          <a:bodyPr numCol="3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+mn-ea"/>
                <a:cs typeface="Segoe UI Light" panose="020B0502040204020203" pitchFamily="34" charset="0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+mn-ea"/>
                <a:cs typeface="Segoe UI Light" panose="020B0502040204020203" pitchFamily="34" charset="0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+mn-ea"/>
                <a:cs typeface="Segoe UI Light" panose="020B0502040204020203" pitchFamily="34" charset="0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cs typeface="Segoe UI Light" panose="020B0502040204020203" pitchFamily="34" charset="0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cs typeface="Segoe UI Light" panose="020B0502040204020203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146CC8FE-79CE-AEBC-AAD9-BFF1691C91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680" y="345775"/>
            <a:ext cx="11201399" cy="434975"/>
          </a:xfrm>
        </p:spPr>
        <p:txBody>
          <a:bodyPr vert="horz" lIns="91440" tIns="45720" rIns="91440" bIns="45720" rtlCol="0">
            <a:noAutofit/>
          </a:bodyPr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800" kern="1200" dirty="0">
                <a:gradFill flip="none" rotWithShape="1">
                  <a:gsLst>
                    <a:gs pos="88000">
                      <a:srgbClr val="0F99E2"/>
                    </a:gs>
                    <a:gs pos="1000">
                      <a:srgbClr val="4B0082"/>
                    </a:gs>
                  </a:gsLst>
                  <a:lin ang="13800000" scaled="0"/>
                  <a:tileRect/>
                </a:gradFill>
                <a:latin typeface="Source Sans Pro" panose="020B050303040302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213DB5C-3A0C-D88A-2D50-E455EDE4F5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245" y="6375556"/>
            <a:ext cx="937708" cy="2479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ED9F814-50B1-D88D-CE34-3C6F383CF0E2}"/>
              </a:ext>
            </a:extLst>
          </p:cNvPr>
          <p:cNvSpPr txBox="1"/>
          <p:nvPr userDrawn="1"/>
        </p:nvSpPr>
        <p:spPr>
          <a:xfrm>
            <a:off x="7571740" y="6444594"/>
            <a:ext cx="3867490" cy="2182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US" sz="800">
                <a:solidFill>
                  <a:srgbClr val="97A0A4"/>
                </a:solidFill>
                <a:effectLst/>
                <a:latin typeface="Source Sans Pro" panose="020B0503030403020204" pitchFamily="34" charset="0"/>
                <a:ea typeface="Frutiger LT Pro 45 Light" panose="020B0403030504020204" pitchFamily="34" charset="77"/>
                <a:cs typeface="Calibri" panose="020F0502020204030204" pitchFamily="34" charset="0"/>
              </a:rPr>
              <a:t>©LTIMindtree | Privileged and Confidential 2025</a:t>
            </a:r>
            <a:endParaRPr lang="en-IN" sz="800">
              <a:solidFill>
                <a:srgbClr val="595959"/>
              </a:solidFill>
              <a:effectLst/>
              <a:latin typeface="Source Sans Pro" panose="020B0503030403020204" pitchFamily="34" charset="0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sp>
        <p:nvSpPr>
          <p:cNvPr id="13" name="Marcador de número de diapositiva 5">
            <a:extLst>
              <a:ext uri="{FF2B5EF4-FFF2-40B4-BE49-F238E27FC236}">
                <a16:creationId xmlns:a16="http://schemas.microsoft.com/office/drawing/2014/main" id="{136F8B0C-3758-0DF4-0294-EC089ED56D58}"/>
              </a:ext>
            </a:extLst>
          </p:cNvPr>
          <p:cNvSpPr txBox="1">
            <a:spLocks/>
          </p:cNvSpPr>
          <p:nvPr userDrawn="1"/>
        </p:nvSpPr>
        <p:spPr>
          <a:xfrm>
            <a:off x="11353800" y="6440394"/>
            <a:ext cx="398178" cy="217624"/>
          </a:xfrm>
          <a:prstGeom prst="rect">
            <a:avLst/>
          </a:prstGeom>
        </p:spPr>
        <p:txBody>
          <a:bodyPr lIns="104891" tIns="52445" rIns="104891" bIns="524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800" b="0" smtClean="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cs typeface="Calibri" panose="020F0502020204030204" pitchFamily="34" charset="0"/>
              </a:rPr>
              <a:pPr algn="r"/>
              <a:t>‹#›</a:t>
            </a:fld>
            <a:endParaRPr lang="en-US" sz="800" b="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4908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E76FAF6-5426-E750-1142-36F4638FD0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7680" y="982146"/>
            <a:ext cx="11201398" cy="2978005"/>
          </a:xfrm>
        </p:spPr>
        <p:txBody>
          <a:bodyPr numCol="3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+mn-ea"/>
                <a:cs typeface="Segoe UI Light" panose="020B0502040204020203" pitchFamily="34" charset="0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+mn-ea"/>
                <a:cs typeface="Segoe UI Light" panose="020B0502040204020203" pitchFamily="34" charset="0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ea typeface="+mn-ea"/>
                <a:cs typeface="Segoe UI Light" panose="020B0502040204020203" pitchFamily="34" charset="0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cs typeface="Segoe UI Light" panose="020B0502040204020203" pitchFamily="34" charset="0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cs typeface="Segoe UI Light" panose="020B0502040204020203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8952F43-EC30-3F62-08BB-F8F94C98B5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680" y="345775"/>
            <a:ext cx="11201399" cy="434975"/>
          </a:xfrm>
        </p:spPr>
        <p:txBody>
          <a:bodyPr vert="horz" lIns="91440" tIns="45720" rIns="91440" bIns="45720" rtlCol="0">
            <a:noAutofit/>
          </a:bodyPr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800" kern="1200" dirty="0">
                <a:gradFill flip="none" rotWithShape="1">
                  <a:gsLst>
                    <a:gs pos="88000">
                      <a:srgbClr val="0F99E2"/>
                    </a:gs>
                    <a:gs pos="1000">
                      <a:srgbClr val="4B0082"/>
                    </a:gs>
                  </a:gsLst>
                  <a:lin ang="13800000" scaled="0"/>
                  <a:tileRect/>
                </a:gradFill>
                <a:latin typeface="Source Sans Pro" panose="020B050303040302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1355585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A9E7E-D462-323C-D980-646E71D88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4D735-6452-3A71-368D-B0E67C5BAE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50CD4-CB43-B727-4DFB-F6BCB09CC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A367E-3963-4AE6-80D5-0E4DA640A57D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64CD9-3AEF-4102-C7DF-C80311CE7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FDBF-2E6B-6D75-788E-CD1729F5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88551-9D27-462E-8CF7-39AE5B91EC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424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AC17D-D483-5212-C8EC-71B89E1CD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21047-F5DA-72AF-C2AC-DC262CA46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44508-5FA7-E460-BA9C-33DE89C2D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3BB8D-1997-4D83-92E9-CA122014A611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4C180-C2FC-4931-70B1-FBB327643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31796-B6E1-98B7-873E-2091547F4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9195E-CEE5-4D85-AF8B-A9CE7330E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445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3.sv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AEB0C7-B37C-A45F-C069-755312CF8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DE7AC-5F49-DA13-0BAB-CEBAA1654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EDCF1-1D2D-EAA9-BE51-675E30DF7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C41BA-863E-44F1-89AE-96467472542C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D692F-DE0C-344D-9856-C88B0C1C7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4CA1D-9F31-B30D-9466-3DA7C577C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7F5D1B-E7B6-47A0-B55A-7ACEBF0E4C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215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3685D-D505-42E6-B2A3-1B26BC793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65125"/>
            <a:ext cx="108857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0300D-8B9D-444F-97B8-8F7D7E3A3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825625"/>
            <a:ext cx="108857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4E6E1E-7055-8D1B-4C37-9DCF88F218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Box 1073742684">
            <a:extLst>
              <a:ext uri="{FF2B5EF4-FFF2-40B4-BE49-F238E27FC236}">
                <a16:creationId xmlns:a16="http://schemas.microsoft.com/office/drawing/2014/main" id="{CB09C83E-2E41-0B4B-7535-36A14EDE4624}"/>
              </a:ext>
            </a:extLst>
          </p:cNvPr>
          <p:cNvSpPr txBox="1"/>
          <p:nvPr userDrawn="1"/>
        </p:nvSpPr>
        <p:spPr>
          <a:xfrm>
            <a:off x="4620260" y="3278188"/>
            <a:ext cx="2951480" cy="30162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00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E6E837-5FC5-B245-6B24-3AC8FDA2DE3E}"/>
              </a:ext>
            </a:extLst>
          </p:cNvPr>
          <p:cNvSpPr txBox="1"/>
          <p:nvPr userDrawn="1"/>
        </p:nvSpPr>
        <p:spPr>
          <a:xfrm>
            <a:off x="7571740" y="6619109"/>
            <a:ext cx="3867490" cy="2182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US" sz="800">
                <a:solidFill>
                  <a:schemeClr val="tx2"/>
                </a:solidFill>
                <a:effectLst/>
                <a:latin typeface="Source Sans Pro" panose="020B0503030403020204" pitchFamily="34" charset="0"/>
                <a:ea typeface="Frutiger LT Pro 45 Light" panose="020B0403030504020204" pitchFamily="34" charset="77"/>
                <a:cs typeface="Calibri" panose="020F0502020204030204" pitchFamily="34" charset="0"/>
              </a:rPr>
              <a:t>©LTIMindtree | Privileged and Confidential 2025</a:t>
            </a:r>
            <a:endParaRPr lang="en-IN" sz="800">
              <a:solidFill>
                <a:schemeClr val="tx2"/>
              </a:solidFill>
              <a:effectLst/>
              <a:latin typeface="Source Sans Pro" panose="020B0503030403020204" pitchFamily="34" charset="0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77700361-1284-42C3-2B62-046AEDC62362}"/>
              </a:ext>
            </a:extLst>
          </p:cNvPr>
          <p:cNvSpPr txBox="1">
            <a:spLocks/>
          </p:cNvSpPr>
          <p:nvPr userDrawn="1"/>
        </p:nvSpPr>
        <p:spPr>
          <a:xfrm>
            <a:off x="11439230" y="6624171"/>
            <a:ext cx="398178" cy="217624"/>
          </a:xfrm>
          <a:prstGeom prst="rect">
            <a:avLst/>
          </a:prstGeom>
        </p:spPr>
        <p:txBody>
          <a:bodyPr lIns="104891" tIns="52445" rIns="104891" bIns="524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800" b="0" smtClean="0">
                <a:solidFill>
                  <a:schemeClr val="tx2"/>
                </a:solidFill>
                <a:latin typeface="Source Sans Pro" panose="020B0503030403020204" pitchFamily="34" charset="0"/>
                <a:cs typeface="Calibri" panose="020F0502020204030204" pitchFamily="34" charset="0"/>
              </a:rPr>
              <a:pPr algn="r"/>
              <a:t>‹#›</a:t>
            </a:fld>
            <a:endParaRPr lang="en-US" sz="800" b="0">
              <a:solidFill>
                <a:schemeClr val="tx2"/>
              </a:solidFill>
              <a:latin typeface="Source Sans Pro" panose="020B050303040302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B4C0522-98EA-5FDB-1F13-5FD3450DE01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8245" y="6550071"/>
            <a:ext cx="937708" cy="24793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9DCE087-268B-28F6-DFC7-DC04A0855E82}"/>
              </a:ext>
            </a:extLst>
          </p:cNvPr>
          <p:cNvGrpSpPr/>
          <p:nvPr userDrawn="1"/>
        </p:nvGrpSpPr>
        <p:grpSpPr>
          <a:xfrm rot="5400000">
            <a:off x="-1746333" y="971845"/>
            <a:ext cx="2303985" cy="360296"/>
            <a:chOff x="2427079" y="2856447"/>
            <a:chExt cx="7322600" cy="114510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7FE9697-8CD1-885C-1E5E-29FE94F6EA9E}"/>
                </a:ext>
              </a:extLst>
            </p:cNvPr>
            <p:cNvSpPr/>
            <p:nvPr/>
          </p:nvSpPr>
          <p:spPr>
            <a:xfrm>
              <a:off x="3656438" y="2856447"/>
              <a:ext cx="1145105" cy="1145105"/>
            </a:xfrm>
            <a:prstGeom prst="ellipse">
              <a:avLst/>
            </a:prstGeom>
            <a:solidFill>
              <a:srgbClr val="0040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7F7831E-8177-E9BE-D057-F69D39D594B1}"/>
                </a:ext>
              </a:extLst>
            </p:cNvPr>
            <p:cNvSpPr/>
            <p:nvPr/>
          </p:nvSpPr>
          <p:spPr>
            <a:xfrm>
              <a:off x="6145857" y="2856447"/>
              <a:ext cx="1145105" cy="1145105"/>
            </a:xfrm>
            <a:prstGeom prst="ellipse">
              <a:avLst/>
            </a:prstGeom>
            <a:solidFill>
              <a:srgbClr val="0F9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686868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2170332-59D6-3721-E048-64712B2BB35A}"/>
                </a:ext>
              </a:extLst>
            </p:cNvPr>
            <p:cNvSpPr/>
            <p:nvPr/>
          </p:nvSpPr>
          <p:spPr>
            <a:xfrm>
              <a:off x="2427079" y="2856447"/>
              <a:ext cx="1145105" cy="1145105"/>
            </a:xfrm>
            <a:prstGeom prst="ellipse">
              <a:avLst/>
            </a:prstGeom>
            <a:solidFill>
              <a:srgbClr val="4B0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AE6EC22-F226-56E6-2E65-654E2262EAC2}"/>
                </a:ext>
              </a:extLst>
            </p:cNvPr>
            <p:cNvSpPr/>
            <p:nvPr/>
          </p:nvSpPr>
          <p:spPr>
            <a:xfrm>
              <a:off x="7375215" y="2856447"/>
              <a:ext cx="1145105" cy="1145105"/>
            </a:xfrm>
            <a:prstGeom prst="ellipse">
              <a:avLst/>
            </a:prstGeom>
            <a:solidFill>
              <a:srgbClr val="32DD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4497EA0-1DA8-097E-E52E-0FDDC636F66E}"/>
                </a:ext>
              </a:extLst>
            </p:cNvPr>
            <p:cNvSpPr/>
            <p:nvPr/>
          </p:nvSpPr>
          <p:spPr>
            <a:xfrm>
              <a:off x="8604574" y="2856447"/>
              <a:ext cx="1145105" cy="1145105"/>
            </a:xfrm>
            <a:prstGeom prst="ellipse">
              <a:avLst/>
            </a:prstGeom>
            <a:solidFill>
              <a:srgbClr val="FFD2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CD640B4-DDE2-4031-7663-CA8DAC7D2BD6}"/>
                </a:ext>
              </a:extLst>
            </p:cNvPr>
            <p:cNvSpPr/>
            <p:nvPr/>
          </p:nvSpPr>
          <p:spPr>
            <a:xfrm>
              <a:off x="4885796" y="2856447"/>
              <a:ext cx="1145105" cy="1145105"/>
            </a:xfrm>
            <a:prstGeom prst="ellipse">
              <a:avLst/>
            </a:prstGeom>
            <a:solidFill>
              <a:srgbClr val="FFC6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2512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emf"/><Relationship Id="rId18" Type="http://schemas.openxmlformats.org/officeDocument/2006/relationships/image" Target="../media/image29.emf"/><Relationship Id="rId26" Type="http://schemas.openxmlformats.org/officeDocument/2006/relationships/image" Target="../media/image37.emf"/><Relationship Id="rId39" Type="http://schemas.openxmlformats.org/officeDocument/2006/relationships/image" Target="../media/image50.emf"/><Relationship Id="rId21" Type="http://schemas.openxmlformats.org/officeDocument/2006/relationships/image" Target="../media/image32.emf"/><Relationship Id="rId34" Type="http://schemas.openxmlformats.org/officeDocument/2006/relationships/image" Target="../media/image45.emf"/><Relationship Id="rId7" Type="http://schemas.openxmlformats.org/officeDocument/2006/relationships/image" Target="../media/image18.emf"/><Relationship Id="rId12" Type="http://schemas.openxmlformats.org/officeDocument/2006/relationships/image" Target="../media/image23.emf"/><Relationship Id="rId17" Type="http://schemas.openxmlformats.org/officeDocument/2006/relationships/image" Target="../media/image28.emf"/><Relationship Id="rId25" Type="http://schemas.openxmlformats.org/officeDocument/2006/relationships/image" Target="../media/image36.emf"/><Relationship Id="rId33" Type="http://schemas.openxmlformats.org/officeDocument/2006/relationships/image" Target="../media/image44.emf"/><Relationship Id="rId38" Type="http://schemas.openxmlformats.org/officeDocument/2006/relationships/image" Target="../media/image49.emf"/><Relationship Id="rId2" Type="http://schemas.openxmlformats.org/officeDocument/2006/relationships/image" Target="../media/image13.emf"/><Relationship Id="rId16" Type="http://schemas.openxmlformats.org/officeDocument/2006/relationships/image" Target="../media/image27.emf"/><Relationship Id="rId20" Type="http://schemas.openxmlformats.org/officeDocument/2006/relationships/image" Target="../media/image31.emf"/><Relationship Id="rId29" Type="http://schemas.openxmlformats.org/officeDocument/2006/relationships/image" Target="../media/image40.emf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7.emf"/><Relationship Id="rId11" Type="http://schemas.openxmlformats.org/officeDocument/2006/relationships/image" Target="../media/image22.emf"/><Relationship Id="rId24" Type="http://schemas.openxmlformats.org/officeDocument/2006/relationships/image" Target="../media/image35.emf"/><Relationship Id="rId32" Type="http://schemas.openxmlformats.org/officeDocument/2006/relationships/image" Target="../media/image43.emf"/><Relationship Id="rId37" Type="http://schemas.openxmlformats.org/officeDocument/2006/relationships/image" Target="../media/image48.emf"/><Relationship Id="rId40" Type="http://schemas.openxmlformats.org/officeDocument/2006/relationships/image" Target="../media/image51.emf"/><Relationship Id="rId5" Type="http://schemas.openxmlformats.org/officeDocument/2006/relationships/image" Target="../media/image16.emf"/><Relationship Id="rId15" Type="http://schemas.openxmlformats.org/officeDocument/2006/relationships/image" Target="../media/image26.emf"/><Relationship Id="rId23" Type="http://schemas.openxmlformats.org/officeDocument/2006/relationships/image" Target="../media/image34.emf"/><Relationship Id="rId28" Type="http://schemas.openxmlformats.org/officeDocument/2006/relationships/image" Target="../media/image39.emf"/><Relationship Id="rId36" Type="http://schemas.openxmlformats.org/officeDocument/2006/relationships/image" Target="../media/image47.emf"/><Relationship Id="rId10" Type="http://schemas.openxmlformats.org/officeDocument/2006/relationships/image" Target="../media/image21.emf"/><Relationship Id="rId19" Type="http://schemas.openxmlformats.org/officeDocument/2006/relationships/image" Target="../media/image30.emf"/><Relationship Id="rId31" Type="http://schemas.openxmlformats.org/officeDocument/2006/relationships/image" Target="../media/image42.emf"/><Relationship Id="rId4" Type="http://schemas.openxmlformats.org/officeDocument/2006/relationships/image" Target="../media/image15.emf"/><Relationship Id="rId9" Type="http://schemas.openxmlformats.org/officeDocument/2006/relationships/image" Target="../media/image20.emf"/><Relationship Id="rId14" Type="http://schemas.openxmlformats.org/officeDocument/2006/relationships/image" Target="../media/image25.emf"/><Relationship Id="rId22" Type="http://schemas.openxmlformats.org/officeDocument/2006/relationships/image" Target="../media/image33.emf"/><Relationship Id="rId27" Type="http://schemas.openxmlformats.org/officeDocument/2006/relationships/image" Target="../media/image38.emf"/><Relationship Id="rId30" Type="http://schemas.openxmlformats.org/officeDocument/2006/relationships/image" Target="../media/image41.emf"/><Relationship Id="rId35" Type="http://schemas.openxmlformats.org/officeDocument/2006/relationships/image" Target="../media/image46.emf"/><Relationship Id="rId8" Type="http://schemas.openxmlformats.org/officeDocument/2006/relationships/image" Target="../media/image19.emf"/><Relationship Id="rId3" Type="http://schemas.openxmlformats.org/officeDocument/2006/relationships/image" Target="../media/image1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80B8D-4F41-9D4B-948F-B254C2BCA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8ACF83-CEFC-B056-F493-A2D49AFFE0F0}"/>
              </a:ext>
            </a:extLst>
          </p:cNvPr>
          <p:cNvSpPr txBox="1">
            <a:spLocks/>
          </p:cNvSpPr>
          <p:nvPr/>
        </p:nvSpPr>
        <p:spPr>
          <a:xfrm>
            <a:off x="414708" y="5474681"/>
            <a:ext cx="1384501" cy="400105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>
              <a:defRPr lang="en-US"/>
            </a:defPPr>
            <a:lvl1pPr defTabSz="1828800">
              <a:lnSpc>
                <a:spcPct val="100000"/>
              </a:lnSpc>
              <a:defRPr sz="6000">
                <a:gradFill>
                  <a:gsLst>
                    <a:gs pos="1000">
                      <a:srgbClr val="0070C4"/>
                    </a:gs>
                    <a:gs pos="100000">
                      <a:srgbClr val="0000A0"/>
                    </a:gs>
                  </a:gsLst>
                  <a:lin ang="11400000" scaled="0"/>
                </a:gradFill>
                <a:latin typeface="Frutiger LT Pro 45 Light" panose="020B0403030504020204" pitchFamily="34" charset="0"/>
                <a:ea typeface="Frutiger LT Pro 45 Light"/>
                <a:cs typeface="Frutiger LT Pro 45 Light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22CCFA"/>
                </a:solidFill>
                <a:effectLst/>
                <a:uLnTx/>
                <a:uFillTx/>
                <a:latin typeface="Source Sans Pro" panose="020B0503030403020204" pitchFamily="34" charset="0"/>
                <a:sym typeface="Frutiger LT Pro 65 Bold"/>
              </a:rPr>
              <a:t>2025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730364A8-5D8E-B60B-D708-277FE1139A10}"/>
              </a:ext>
            </a:extLst>
          </p:cNvPr>
          <p:cNvSpPr txBox="1"/>
          <p:nvPr/>
        </p:nvSpPr>
        <p:spPr>
          <a:xfrm>
            <a:off x="414708" y="3175869"/>
            <a:ext cx="4608229" cy="874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8" tIns="45718" rIns="45718" bIns="45718" anchor="b">
            <a:spAutoFit/>
          </a:bodyPr>
          <a:lstStyle>
            <a:lvl1pPr algn="l" defTabSz="1828800">
              <a:lnSpc>
                <a:spcPct val="80000"/>
              </a:lnSpc>
              <a:defRPr sz="9600">
                <a:solidFill>
                  <a:srgbClr val="FFFFFF"/>
                </a:solidFill>
                <a:latin typeface="Frutiger LT Pro 45 Light"/>
                <a:ea typeface="Frutiger LT Pro 45 Light"/>
                <a:cs typeface="Frutiger LT Pro 45 Light"/>
                <a:sym typeface="Frutiger LT Pro 45 Light"/>
              </a:defRPr>
            </a:lvl1pPr>
          </a:lstStyle>
          <a:p>
            <a:pPr marL="0" marR="0" lvl="0" indent="0" algn="l" defTabSz="1828800" rtl="0" eaLnBrk="1" fontAlgn="auto" latinLnBrk="0" hangingPunct="1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4400" b="1" dirty="0">
                <a:gradFill flip="none" rotWithShape="1">
                  <a:gsLst>
                    <a:gs pos="88000">
                      <a:srgbClr val="0F99E2"/>
                    </a:gs>
                    <a:gs pos="1000">
                      <a:srgbClr val="4B0082"/>
                    </a:gs>
                  </a:gsLst>
                  <a:lin ang="13800000" scaled="0"/>
                  <a:tileRect/>
                </a:gradFill>
                <a:latin typeface="Source Sans Pro" panose="020B0503030403020204" pitchFamily="34" charset="0"/>
                <a:cs typeface="Calibri" panose="020F0502020204030204" pitchFamily="34" charset="0"/>
                <a:sym typeface="Open Sans"/>
              </a:rPr>
              <a:t>AI Services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88000">
                    <a:srgbClr val="22CCFA"/>
                  </a:gs>
                  <a:gs pos="0">
                    <a:srgbClr val="A52DFF"/>
                  </a:gs>
                </a:gsLst>
                <a:lin ang="13800000" scaled="0"/>
                <a:tileRect/>
              </a:gradFill>
              <a:effectLst/>
              <a:uLnTx/>
              <a:uFillTx/>
              <a:latin typeface="Source Sans Pro" panose="020B0503030403020204" pitchFamily="34" charset="0"/>
              <a:sym typeface="Frutiger LT Pro 45 Light"/>
            </a:endParaRP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D0E4F113-350C-04AF-9A98-232937C58B4D}"/>
              </a:ext>
            </a:extLst>
          </p:cNvPr>
          <p:cNvSpPr txBox="1">
            <a:spLocks/>
          </p:cNvSpPr>
          <p:nvPr/>
        </p:nvSpPr>
        <p:spPr>
          <a:xfrm>
            <a:off x="414708" y="4711946"/>
            <a:ext cx="5296302" cy="400105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 anchor="ctr">
            <a:spAutoFit/>
          </a:bodyPr>
          <a:lstStyle>
            <a:defPPr>
              <a:defRPr lang="en-US"/>
            </a:defPPr>
            <a:lvl1pPr defTabSz="1828800">
              <a:lnSpc>
                <a:spcPct val="100000"/>
              </a:lnSpc>
              <a:defRPr sz="6000">
                <a:gradFill>
                  <a:gsLst>
                    <a:gs pos="1000">
                      <a:srgbClr val="0070C4"/>
                    </a:gs>
                    <a:gs pos="100000">
                      <a:srgbClr val="0000A0"/>
                    </a:gs>
                  </a:gsLst>
                  <a:lin ang="11400000" scaled="0"/>
                </a:gradFill>
                <a:latin typeface="Frutiger LT Pro 45 Light" panose="020B0403030504020204" pitchFamily="34" charset="0"/>
                <a:ea typeface="Frutiger LT Pro 45 Light"/>
                <a:cs typeface="Frutiger LT Pro 45 Light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sym typeface="Frutiger LT Pro 65 Bold"/>
              </a:rPr>
              <a:t>Success Stories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 panose="020B0503030403020204" pitchFamily="34" charset="0"/>
              <a:sym typeface="Frutiger LT Pro 65 Bold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3D2CEAA-B63D-269D-64DA-6E97096E9E18}"/>
              </a:ext>
            </a:extLst>
          </p:cNvPr>
          <p:cNvGrpSpPr/>
          <p:nvPr/>
        </p:nvGrpSpPr>
        <p:grpSpPr>
          <a:xfrm>
            <a:off x="487660" y="4360060"/>
            <a:ext cx="5371318" cy="190498"/>
            <a:chOff x="934232" y="4094082"/>
            <a:chExt cx="5371318" cy="19049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5F7CBFE-7607-E337-338C-262495941878}"/>
                </a:ext>
              </a:extLst>
            </p:cNvPr>
            <p:cNvCxnSpPr>
              <a:cxnSpLocks/>
            </p:cNvCxnSpPr>
            <p:nvPr/>
          </p:nvCxnSpPr>
          <p:spPr>
            <a:xfrm>
              <a:off x="934232" y="4189331"/>
              <a:ext cx="5307818" cy="0"/>
            </a:xfrm>
            <a:prstGeom prst="line">
              <a:avLst/>
            </a:prstGeom>
            <a:ln w="28575" cap="rnd">
              <a:solidFill>
                <a:srgbClr val="22CCFA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6CECA34-97BA-A872-AA05-69C9847F5FC5}"/>
                </a:ext>
              </a:extLst>
            </p:cNvPr>
            <p:cNvSpPr/>
            <p:nvPr/>
          </p:nvSpPr>
          <p:spPr>
            <a:xfrm>
              <a:off x="6115050" y="4094082"/>
              <a:ext cx="190500" cy="190498"/>
            </a:xfrm>
            <a:prstGeom prst="ellipse">
              <a:avLst/>
            </a:prstGeom>
            <a:solidFill>
              <a:srgbClr val="22CC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1B5E11A8-1716-A86A-813E-3016117532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660" y="692969"/>
            <a:ext cx="2503449" cy="66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66194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278C8-C5E4-620B-F4A3-3BB7003B2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Placeholder 1">
            <a:extLst>
              <a:ext uri="{FF2B5EF4-FFF2-40B4-BE49-F238E27FC236}">
                <a16:creationId xmlns:a16="http://schemas.microsoft.com/office/drawing/2014/main" id="{460D05B0-4F52-9772-DF20-1591FA8AA07A}"/>
              </a:ext>
            </a:extLst>
          </p:cNvPr>
          <p:cNvSpPr txBox="1">
            <a:spLocks/>
          </p:cNvSpPr>
          <p:nvPr/>
        </p:nvSpPr>
        <p:spPr>
          <a:xfrm>
            <a:off x="303850" y="813629"/>
            <a:ext cx="11125200" cy="43497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C00BB64-ACA4-07B9-72FD-4FFCE09B7A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2092" y="121548"/>
            <a:ext cx="11216958" cy="434975"/>
          </a:xfrm>
        </p:spPr>
        <p:txBody>
          <a:bodyPr/>
          <a:lstStyle/>
          <a:p>
            <a:r>
              <a:rPr lang="en-US" dirty="0">
                <a:latin typeface="Frutiger 45 bold"/>
                <a:sym typeface="Frutiger LT Pro 45 Light"/>
              </a:rPr>
              <a:t>Our Understanding of the Problem Statement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BBAC2D-8753-E893-15C4-5E6B67B542DF}"/>
              </a:ext>
            </a:extLst>
          </p:cNvPr>
          <p:cNvSpPr/>
          <p:nvPr/>
        </p:nvSpPr>
        <p:spPr>
          <a:xfrm>
            <a:off x="212092" y="625525"/>
            <a:ext cx="11772373" cy="623247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defTabSz="910427">
              <a:spcAft>
                <a:spcPts val="600"/>
              </a:spcAft>
              <a:buClr>
                <a:srgbClr val="595959">
                  <a:lumMod val="75000"/>
                </a:srgbClr>
              </a:buClr>
              <a:defRPr/>
            </a:pPr>
            <a:r>
              <a:rPr lang="en-US" sz="1600" dirty="0">
                <a:gradFill flip="none" rotWithShape="1">
                  <a:gsLst>
                    <a:gs pos="88000">
                      <a:srgbClr val="0F99E2"/>
                    </a:gs>
                    <a:gs pos="1000">
                      <a:srgbClr val="4B0082"/>
                    </a:gs>
                  </a:gsLst>
                  <a:lin ang="13800000" scaled="0"/>
                  <a:tileRect/>
                </a:gradFill>
                <a:latin typeface="Frutiger 45 bold"/>
                <a:cs typeface="Calibri" panose="020F0502020204030204" pitchFamily="34" charset="0"/>
              </a:rPr>
              <a:t>Challenge: </a:t>
            </a:r>
          </a:p>
          <a:p>
            <a:pPr marL="285750" indent="-285750" defTabSz="910427">
              <a:spcAft>
                <a:spcPts val="600"/>
              </a:spcAft>
              <a:buClr>
                <a:srgbClr val="595959">
                  <a:lumMod val="75000"/>
                </a:srgbClr>
              </a:buClr>
              <a:buFont typeface="Wingdings" panose="05000000000000000000" pitchFamily="2" charset="2"/>
              <a:buChar char="Ø"/>
              <a:defRPr/>
            </a:pPr>
            <a:r>
              <a:rPr lang="en-US" sz="1400" dirty="0">
                <a:latin typeface="Source Sans Pro" panose="020B0503030403020204" pitchFamily="34" charset="0"/>
              </a:rPr>
              <a:t>Develop domain-specific, configurable knowledge bots for IFC content, enabling multi-conversation interactions and enforcing access control. </a:t>
            </a:r>
          </a:p>
          <a:p>
            <a:pPr marL="285750" indent="-285750" defTabSz="910427">
              <a:spcAft>
                <a:spcPts val="600"/>
              </a:spcAft>
              <a:buClr>
                <a:srgbClr val="595959">
                  <a:lumMod val="75000"/>
                </a:srgbClr>
              </a:buClr>
              <a:buFont typeface="Wingdings" panose="05000000000000000000" pitchFamily="2" charset="2"/>
              <a:buChar char="Ø"/>
              <a:defRPr/>
            </a:pPr>
            <a:r>
              <a:rPr lang="en-US" sz="1400" dirty="0">
                <a:latin typeface="Source Sans Pro" panose="020B0503030403020204" pitchFamily="34" charset="0"/>
              </a:rPr>
              <a:t>Create real-time knowledge bots for structured content and co-creator modules to generate user-requested content while maintaining IFC's writing style and strategic alignment.</a:t>
            </a:r>
          </a:p>
          <a:p>
            <a:pPr marL="285750" indent="-285750" defTabSz="910427">
              <a:spcAft>
                <a:spcPts val="600"/>
              </a:spcAft>
              <a:buClr>
                <a:srgbClr val="595959">
                  <a:lumMod val="75000"/>
                </a:srgbClr>
              </a:buClr>
              <a:buFont typeface="Wingdings" panose="05000000000000000000" pitchFamily="2" charset="2"/>
              <a:buChar char="Ø"/>
              <a:defRPr/>
            </a:pPr>
            <a:r>
              <a:rPr lang="en-US" sz="1400" dirty="0">
                <a:latin typeface="Source Sans Pro" panose="020B0503030403020204" pitchFamily="34" charset="0"/>
              </a:rPr>
              <a:t>Non-technical users find it difficult to leverage advanced AI tools and technologies.</a:t>
            </a:r>
          </a:p>
          <a:p>
            <a:pPr marL="285750" indent="-285750" defTabSz="910427">
              <a:spcAft>
                <a:spcPts val="600"/>
              </a:spcAft>
              <a:buClr>
                <a:srgbClr val="595959">
                  <a:lumMod val="75000"/>
                </a:srgbClr>
              </a:buClr>
              <a:buFont typeface="Wingdings" panose="05000000000000000000" pitchFamily="2" charset="2"/>
              <a:buChar char="Ø"/>
              <a:defRPr/>
            </a:pPr>
            <a:r>
              <a:rPr lang="en-US" sz="1400" dirty="0">
                <a:latin typeface="Source Sans Pro" panose="020B0503030403020204" pitchFamily="34" charset="0"/>
              </a:rPr>
              <a:t>Managing and retrieving relevant information from large volumes of documents is cumbersome.</a:t>
            </a:r>
          </a:p>
          <a:p>
            <a:pPr marL="285750" indent="-285750" defTabSz="910427">
              <a:spcAft>
                <a:spcPts val="600"/>
              </a:spcAft>
              <a:buClr>
                <a:srgbClr val="595959">
                  <a:lumMod val="75000"/>
                </a:srgbClr>
              </a:buClr>
              <a:buFont typeface="Wingdings" panose="05000000000000000000" pitchFamily="2" charset="2"/>
              <a:buChar char="Ø"/>
              <a:defRPr/>
            </a:pPr>
            <a:r>
              <a:rPr lang="en-US" sz="1400" dirty="0">
                <a:latin typeface="Source Sans Pro" panose="020B0503030403020204" pitchFamily="34" charset="0"/>
              </a:rPr>
              <a:t>Ensuring that the system can scale and be maintained efficiently over time.</a:t>
            </a:r>
          </a:p>
          <a:p>
            <a:pPr defTabSz="910427">
              <a:spcAft>
                <a:spcPts val="600"/>
              </a:spcAft>
              <a:buClr>
                <a:srgbClr val="595959">
                  <a:lumMod val="75000"/>
                </a:srgbClr>
              </a:buClr>
              <a:defRPr/>
            </a:pPr>
            <a:r>
              <a:rPr lang="en-US" sz="1600" dirty="0">
                <a:gradFill flip="none" rotWithShape="1">
                  <a:gsLst>
                    <a:gs pos="88000">
                      <a:srgbClr val="0F99E2"/>
                    </a:gs>
                    <a:gs pos="1000">
                      <a:srgbClr val="4B0082"/>
                    </a:gs>
                  </a:gsLst>
                  <a:lin ang="13800000" scaled="0"/>
                  <a:tileRect/>
                </a:gradFill>
                <a:latin typeface="Frutiger 45 bold"/>
                <a:cs typeface="Calibri" panose="020F0502020204030204" pitchFamily="34" charset="0"/>
              </a:rPr>
              <a:t>Pain Point</a:t>
            </a:r>
            <a:r>
              <a:rPr lang="en-US" sz="1400" dirty="0">
                <a:gradFill flip="none" rotWithShape="1">
                  <a:gsLst>
                    <a:gs pos="88000">
                      <a:srgbClr val="0F99E2"/>
                    </a:gs>
                    <a:gs pos="1000">
                      <a:srgbClr val="4B0082"/>
                    </a:gs>
                  </a:gsLst>
                  <a:lin ang="13800000" scaled="0"/>
                  <a:tileRect/>
                </a:gradFill>
                <a:latin typeface="Frutiger 45 bold"/>
                <a:cs typeface="Calibri" panose="020F0502020204030204" pitchFamily="34" charset="0"/>
              </a:rPr>
              <a:t>: </a:t>
            </a:r>
          </a:p>
          <a:p>
            <a:pPr marL="285750" indent="-285750" defTabSz="910427">
              <a:spcAft>
                <a:spcPts val="600"/>
              </a:spcAft>
              <a:buClr>
                <a:srgbClr val="595959">
                  <a:lumMod val="75000"/>
                </a:srgbClr>
              </a:buClr>
              <a:buFont typeface="Wingdings" panose="05000000000000000000" pitchFamily="2" charset="2"/>
              <a:buChar char="Ø"/>
              <a:defRPr/>
            </a:pPr>
            <a:r>
              <a:rPr lang="en-US" sz="1400" dirty="0">
                <a:latin typeface="Source Sans Pro" panose="020B0503030403020204" pitchFamily="34" charset="0"/>
              </a:rPr>
              <a:t>The process is time-consuming and requires significant effort to ensure accuracy and relevance.</a:t>
            </a:r>
          </a:p>
          <a:p>
            <a:pPr marL="285750" indent="-285750" defTabSz="910427">
              <a:spcAft>
                <a:spcPts val="600"/>
              </a:spcAft>
              <a:buClr>
                <a:srgbClr val="595959">
                  <a:lumMod val="75000"/>
                </a:srgbClr>
              </a:buClr>
              <a:buFont typeface="Wingdings" panose="05000000000000000000" pitchFamily="2" charset="2"/>
              <a:buChar char="Ø"/>
              <a:defRPr/>
            </a:pPr>
            <a:r>
              <a:rPr lang="en-US" sz="1400" dirty="0">
                <a:latin typeface="Source Sans Pro" panose="020B0503030403020204" pitchFamily="34" charset="0"/>
              </a:rPr>
              <a:t>The technical complexities involved in using AI models and configuring them can be overwhelming for business users.</a:t>
            </a:r>
          </a:p>
          <a:p>
            <a:pPr marL="285750" indent="-285750" defTabSz="910427">
              <a:spcAft>
                <a:spcPts val="600"/>
              </a:spcAft>
              <a:buClr>
                <a:srgbClr val="595959">
                  <a:lumMod val="75000"/>
                </a:srgbClr>
              </a:buClr>
              <a:buFont typeface="Wingdings" panose="05000000000000000000" pitchFamily="2" charset="2"/>
              <a:buChar char="Ø"/>
              <a:defRPr/>
            </a:pPr>
            <a:r>
              <a:rPr lang="en-US" sz="1400" dirty="0">
                <a:latin typeface="Source Sans Pro" panose="020B0503030403020204" pitchFamily="34" charset="0"/>
              </a:rPr>
              <a:t>Users face difficulties in organizing, searching, and extracting useful information from extensive document repositories.</a:t>
            </a:r>
          </a:p>
          <a:p>
            <a:pPr marL="285750" indent="-285750" defTabSz="910427">
              <a:spcAft>
                <a:spcPts val="600"/>
              </a:spcAft>
              <a:buClr>
                <a:srgbClr val="595959">
                  <a:lumMod val="75000"/>
                </a:srgbClr>
              </a:buClr>
              <a:buFont typeface="Wingdings" panose="05000000000000000000" pitchFamily="2" charset="2"/>
              <a:buChar char="Ø"/>
              <a:defRPr/>
            </a:pPr>
            <a:r>
              <a:rPr lang="en-US" sz="1400" dirty="0">
                <a:latin typeface="Source Sans Pro" panose="020B0503030403020204" pitchFamily="34" charset="0"/>
              </a:rPr>
              <a:t>The absence of a streamlined process for sharing configurations, prompts, and response templates hinders effective teamwork.</a:t>
            </a:r>
          </a:p>
          <a:p>
            <a:pPr marL="285750" indent="-285750" defTabSz="910427">
              <a:spcAft>
                <a:spcPts val="600"/>
              </a:spcAft>
              <a:buClr>
                <a:srgbClr val="595959">
                  <a:lumMod val="75000"/>
                </a:srgbClr>
              </a:buClr>
              <a:buFont typeface="Wingdings" panose="05000000000000000000" pitchFamily="2" charset="2"/>
              <a:buChar char="Ø"/>
              <a:defRPr/>
            </a:pPr>
            <a:r>
              <a:rPr lang="en-US" sz="1400" dirty="0">
                <a:latin typeface="Source Sans Pro" panose="020B0503030403020204" pitchFamily="34" charset="0"/>
              </a:rPr>
              <a:t>Generate high-quality, contextually relevant content by leveraging advanced AI technologies and existing knowledge within IFC.</a:t>
            </a:r>
          </a:p>
          <a:p>
            <a:pPr defTabSz="910427">
              <a:spcAft>
                <a:spcPts val="600"/>
              </a:spcAft>
              <a:buClr>
                <a:srgbClr val="595959">
                  <a:lumMod val="75000"/>
                </a:srgbClr>
              </a:buClr>
              <a:defRPr/>
            </a:pPr>
            <a:r>
              <a:rPr lang="en-US" sz="1600" dirty="0">
                <a:gradFill flip="none" rotWithShape="1">
                  <a:gsLst>
                    <a:gs pos="88000">
                      <a:srgbClr val="0F99E2"/>
                    </a:gs>
                    <a:gs pos="1000">
                      <a:srgbClr val="4B0082"/>
                    </a:gs>
                  </a:gsLst>
                  <a:lin ang="13800000" scaled="0"/>
                  <a:tileRect/>
                </a:gradFill>
                <a:latin typeface="Frutiger 45 bold"/>
                <a:cs typeface="Calibri" panose="020F0502020204030204" pitchFamily="34" charset="0"/>
              </a:rPr>
              <a:t>What We Did:</a:t>
            </a:r>
            <a:endParaRPr lang="en-US" sz="1400" dirty="0">
              <a:gradFill flip="none" rotWithShape="1">
                <a:gsLst>
                  <a:gs pos="88000">
                    <a:srgbClr val="0F99E2"/>
                  </a:gs>
                  <a:gs pos="1000">
                    <a:srgbClr val="4B0082"/>
                  </a:gs>
                </a:gsLst>
                <a:lin ang="13800000" scaled="0"/>
                <a:tileRect/>
              </a:gradFill>
              <a:latin typeface="Frutiger 45 bold"/>
              <a:cs typeface="Calibri" panose="020F0502020204030204" pitchFamily="34" charset="0"/>
            </a:endParaRPr>
          </a:p>
          <a:p>
            <a:pPr marL="285750" indent="-285750" defTabSz="910427">
              <a:spcAft>
                <a:spcPts val="600"/>
              </a:spcAft>
              <a:buClr>
                <a:srgbClr val="595959">
                  <a:lumMod val="75000"/>
                </a:srgbClr>
              </a:buClr>
              <a:buFont typeface="Wingdings" panose="05000000000000000000" pitchFamily="2" charset="2"/>
              <a:buChar char="Ø"/>
              <a:defRPr/>
            </a:pPr>
            <a:r>
              <a:rPr lang="en-US" sz="1400" dirty="0">
                <a:latin typeface="Source Sans Pro" panose="020B0503030403020204" pitchFamily="34" charset="0"/>
              </a:rPr>
              <a:t>Generate high-quality, contextually relevant content by leveraging advanced AI technologies and existing knowledge within IFC.</a:t>
            </a:r>
          </a:p>
          <a:p>
            <a:pPr marL="285750" indent="-285750" defTabSz="910427">
              <a:spcAft>
                <a:spcPts val="600"/>
              </a:spcAft>
              <a:buClr>
                <a:srgbClr val="595959">
                  <a:lumMod val="75000"/>
                </a:srgbClr>
              </a:buClr>
              <a:buFont typeface="Wingdings" panose="05000000000000000000" pitchFamily="2" charset="2"/>
              <a:buChar char="Ø"/>
              <a:defRPr/>
            </a:pPr>
            <a:r>
              <a:rPr lang="en-US" sz="1400" dirty="0">
                <a:latin typeface="Source Sans Pro" panose="020B0503030403020204" pitchFamily="34" charset="0"/>
              </a:rPr>
              <a:t>Foster an environment where advanced AI technologies facilitate seamless and efficient content creation, enhancing overall productivity and innovation.</a:t>
            </a:r>
          </a:p>
          <a:p>
            <a:pPr marL="285750" indent="-285750" defTabSz="910427">
              <a:spcAft>
                <a:spcPts val="600"/>
              </a:spcAft>
              <a:buClr>
                <a:srgbClr val="595959">
                  <a:lumMod val="75000"/>
                </a:srgbClr>
              </a:buClr>
              <a:buFont typeface="Wingdings" panose="05000000000000000000" pitchFamily="2" charset="2"/>
              <a:buChar char="Ø"/>
              <a:defRPr/>
            </a:pPr>
            <a:r>
              <a:rPr lang="en-US" sz="1400" dirty="0">
                <a:latin typeface="Source Sans Pro" panose="020B0503030403020204" pitchFamily="34" charset="0"/>
              </a:rPr>
              <a:t>Enable users to generate new content by leveraging existing knowledge, content, and strategies within IFC.</a:t>
            </a:r>
          </a:p>
          <a:p>
            <a:pPr marL="285750" indent="-285750" defTabSz="910427">
              <a:spcAft>
                <a:spcPts val="600"/>
              </a:spcAft>
              <a:buClr>
                <a:srgbClr val="595959">
                  <a:lumMod val="75000"/>
                </a:srgbClr>
              </a:buClr>
              <a:buFont typeface="Wingdings" panose="05000000000000000000" pitchFamily="2" charset="2"/>
              <a:buChar char="Ø"/>
              <a:defRPr/>
            </a:pPr>
            <a:r>
              <a:rPr lang="en-US" sz="1400" dirty="0">
                <a:latin typeface="Source Sans Pro" panose="020B0503030403020204" pitchFamily="34" charset="0"/>
              </a:rPr>
              <a:t>Provide a seamless and efficient process for creating comprehensive response documents based on user-provided reference documents.</a:t>
            </a:r>
          </a:p>
          <a:p>
            <a:pPr marL="285750" indent="-285750">
              <a:buSzPts val="1600"/>
              <a:buFont typeface="Wingdings" panose="05000000000000000000" pitchFamily="2" charset="2"/>
              <a:buChar char="Ø"/>
            </a:pPr>
            <a:r>
              <a:rPr lang="en-US" sz="1400" dirty="0">
                <a:latin typeface="Source Sans Pro" panose="020B0503030403020204" pitchFamily="34" charset="0"/>
              </a:rPr>
              <a:t>Utilize Azure OpenAI services and other Azure technologies to deliver high-quality, contextually relevant content.</a:t>
            </a:r>
          </a:p>
          <a:p>
            <a:pPr marL="285750" indent="-285750">
              <a:buSzPts val="1600"/>
              <a:buFont typeface="Wingdings" panose="05000000000000000000" pitchFamily="2" charset="2"/>
              <a:buChar char="Ø"/>
            </a:pPr>
            <a:endParaRPr lang="en-US" sz="1400" dirty="0">
              <a:latin typeface="Source Sans Pro" panose="020B0503030403020204" pitchFamily="34" charset="0"/>
            </a:endParaRPr>
          </a:p>
          <a:p>
            <a:pPr defTabSz="910427">
              <a:spcAft>
                <a:spcPts val="600"/>
              </a:spcAft>
              <a:buClr>
                <a:srgbClr val="595959">
                  <a:lumMod val="75000"/>
                </a:srgbClr>
              </a:buClr>
              <a:defRPr/>
            </a:pPr>
            <a:endParaRPr lang="en-US" sz="1400" dirty="0"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209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9AED4-FF16-C5E4-8BED-FDBA6FBEA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Placeholder 1">
            <a:extLst>
              <a:ext uri="{FF2B5EF4-FFF2-40B4-BE49-F238E27FC236}">
                <a16:creationId xmlns:a16="http://schemas.microsoft.com/office/drawing/2014/main" id="{4BA6D7EB-7974-39DA-BAE3-967E6330BEDF}"/>
              </a:ext>
            </a:extLst>
          </p:cNvPr>
          <p:cNvSpPr txBox="1">
            <a:spLocks/>
          </p:cNvSpPr>
          <p:nvPr/>
        </p:nvSpPr>
        <p:spPr>
          <a:xfrm>
            <a:off x="303850" y="813629"/>
            <a:ext cx="11125200" cy="43497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78AB94-97E5-911A-A169-B4063A8234FB}"/>
              </a:ext>
            </a:extLst>
          </p:cNvPr>
          <p:cNvSpPr txBox="1"/>
          <p:nvPr/>
        </p:nvSpPr>
        <p:spPr>
          <a:xfrm>
            <a:off x="270102" y="573776"/>
            <a:ext cx="11216958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Source Sans Pro" panose="020B0503030403020204" pitchFamily="34" charset="0"/>
              </a:rPr>
              <a:t>The proposed solution, Chat IFC AI Studio, is a Generative AI-based platform designed to facilitate knowledge co-creation by leveraging existing knowledge, content, and strategies within the International Finance Corporation (IFC). The primary objective of this solution is to generate high-quality response documents based on a given list of reference documents. The solution employs a Retrieval Augmented Generation (RAG) approach using OpenAI GPT models and integrates various Azure services such as Azure OpenAI, Azure Cosmos DB, Azure AI Search, and Azure Blob Storage.</a:t>
            </a:r>
          </a:p>
          <a:p>
            <a:pPr marR="0" lvl="0"/>
            <a:endParaRPr lang="en-US" sz="2400" dirty="0">
              <a:effectLst/>
              <a:latin typeface="Source Sans Pro" panose="020B0503030403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B007918-CED6-BB1E-5D5E-50C9884F0EE3}"/>
              </a:ext>
            </a:extLst>
          </p:cNvPr>
          <p:cNvSpPr txBox="1">
            <a:spLocks/>
          </p:cNvSpPr>
          <p:nvPr/>
        </p:nvSpPr>
        <p:spPr>
          <a:xfrm>
            <a:off x="270101" y="138801"/>
            <a:ext cx="11216958" cy="4349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800" kern="1200" dirty="0">
                <a:gradFill flip="none" rotWithShape="1">
                  <a:gsLst>
                    <a:gs pos="88000">
                      <a:srgbClr val="0F99E2"/>
                    </a:gs>
                    <a:gs pos="1000">
                      <a:srgbClr val="4B0082"/>
                    </a:gs>
                  </a:gsLst>
                  <a:lin ang="13800000" scaled="0"/>
                  <a:tileRect/>
                </a:gradFill>
                <a:latin typeface="Source Sans Pro" panose="020B050303040302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Frutiger 45 bold"/>
                <a:sym typeface="Frutiger LT Pro 45 Light"/>
              </a:rPr>
              <a:t>Solution Approach: Enhanced Business Workflow/ Function(1/2)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C00CAA-82DE-9767-0375-8F88E4C82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461450"/>
              </p:ext>
            </p:extLst>
          </p:nvPr>
        </p:nvGraphicFramePr>
        <p:xfrm>
          <a:off x="270101" y="2006300"/>
          <a:ext cx="11504952" cy="4419600"/>
        </p:xfrm>
        <a:graphic>
          <a:graphicData uri="http://schemas.openxmlformats.org/drawingml/2006/table">
            <a:tbl>
              <a:tblPr firstRow="1" bandRow="1"/>
              <a:tblGrid>
                <a:gridCol w="2876238">
                  <a:extLst>
                    <a:ext uri="{9D8B030D-6E8A-4147-A177-3AD203B41FA5}">
                      <a16:colId xmlns:a16="http://schemas.microsoft.com/office/drawing/2014/main" val="2186521286"/>
                    </a:ext>
                  </a:extLst>
                </a:gridCol>
                <a:gridCol w="2876238">
                  <a:extLst>
                    <a:ext uri="{9D8B030D-6E8A-4147-A177-3AD203B41FA5}">
                      <a16:colId xmlns:a16="http://schemas.microsoft.com/office/drawing/2014/main" val="3614809249"/>
                    </a:ext>
                  </a:extLst>
                </a:gridCol>
                <a:gridCol w="2876238">
                  <a:extLst>
                    <a:ext uri="{9D8B030D-6E8A-4147-A177-3AD203B41FA5}">
                      <a16:colId xmlns:a16="http://schemas.microsoft.com/office/drawing/2014/main" val="1141978150"/>
                    </a:ext>
                  </a:extLst>
                </a:gridCol>
                <a:gridCol w="2876238">
                  <a:extLst>
                    <a:ext uri="{9D8B030D-6E8A-4147-A177-3AD203B41FA5}">
                      <a16:colId xmlns:a16="http://schemas.microsoft.com/office/drawing/2014/main" val="232483603"/>
                    </a:ext>
                  </a:extLst>
                </a:gridCol>
              </a:tblGrid>
              <a:tr h="2839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User Personas</a:t>
                      </a:r>
                      <a:endParaRPr lang="en-US" sz="1400" dirty="0">
                        <a:latin typeface="Source Sans Pro" panose="020B0503030403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Frontend</a:t>
                      </a:r>
                      <a:endParaRPr lang="en-US" sz="1400" dirty="0">
                        <a:latin typeface="Source Sans Pro" panose="020B0503030403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Backend</a:t>
                      </a:r>
                      <a:endParaRPr lang="en-US" sz="1400" dirty="0">
                        <a:latin typeface="Source Sans Pro" panose="020B0503030403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Data Storage</a:t>
                      </a:r>
                      <a:endParaRPr lang="en-US" sz="1400" dirty="0">
                        <a:latin typeface="Source Sans Pro" panose="020B0503030403020204" pitchFamily="34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389735"/>
                  </a:ext>
                </a:extLst>
              </a:tr>
              <a:tr h="187380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Business User: The end user who provides reference documents and receives the final response document.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IT User: An administrative role responsible for configuring chunking strategies, designing prompts, and performing prompt engineering.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Developed using React.js, providing a user-friendly interface for both Business and IT Users.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Single Sign-On (SSO) authentication for secure access.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Built using Python and the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FastAPI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 framework.</a:t>
                      </a:r>
                    </a:p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Hosted on Azure App Services with OAuth2 authorization.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Azure Blob Storage for storing actual documents.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Azure Cosmos DB for storing document metadata and other configurations.</a:t>
                      </a:r>
                    </a:p>
                    <a:p>
                      <a:endParaRPr lang="en-US" sz="1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806332"/>
                  </a:ext>
                </a:extLst>
              </a:tr>
              <a:tr h="4826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AI and Search Services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Document Processing and Ingestion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Prompt Studio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Compose Response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820036"/>
                  </a:ext>
                </a:extLst>
              </a:tr>
              <a:tr h="11734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Azure AI Search for indexing and querying structured and unstructured data.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Azure OpenAI for generating responses using GPT models.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Upload and analyze documents, configure chunking strategies, and generate vector embeddings.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Ingest documents into Azure AI Search Index for efficient retrieval.</a:t>
                      </a:r>
                    </a:p>
                    <a:p>
                      <a:pPr algn="l"/>
                      <a:endParaRPr lang="en-US" sz="1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Create and manage prompts, configure LLM parameters, and perform prompt engineering.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Generate responses using GPT models and save them in Azure Cosmos DB.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Upload response template documents and generate final response documents by executing saved prompts.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695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228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1DA10-A968-07A9-2C27-EE88569153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4382" y="173247"/>
            <a:ext cx="11201399" cy="434975"/>
          </a:xfrm>
        </p:spPr>
        <p:txBody>
          <a:bodyPr/>
          <a:lstStyle/>
          <a:p>
            <a:r>
              <a:rPr lang="en-US" dirty="0">
                <a:latin typeface="Frutiger 45 bold"/>
                <a:sym typeface="Frutiger LT Pro 45 Light"/>
              </a:rPr>
              <a:t>Solution Approach: Enhanced Business Workflow/ Function(2/2) 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4E72C43-6B45-D17F-0E96-AA207A5E2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399190"/>
              </p:ext>
            </p:extLst>
          </p:nvPr>
        </p:nvGraphicFramePr>
        <p:xfrm>
          <a:off x="194382" y="773204"/>
          <a:ext cx="11504952" cy="4212857"/>
        </p:xfrm>
        <a:graphic>
          <a:graphicData uri="http://schemas.openxmlformats.org/drawingml/2006/table">
            <a:tbl>
              <a:tblPr firstRow="1" bandRow="1"/>
              <a:tblGrid>
                <a:gridCol w="2876238">
                  <a:extLst>
                    <a:ext uri="{9D8B030D-6E8A-4147-A177-3AD203B41FA5}">
                      <a16:colId xmlns:a16="http://schemas.microsoft.com/office/drawing/2014/main" val="893316891"/>
                    </a:ext>
                  </a:extLst>
                </a:gridCol>
                <a:gridCol w="2876238">
                  <a:extLst>
                    <a:ext uri="{9D8B030D-6E8A-4147-A177-3AD203B41FA5}">
                      <a16:colId xmlns:a16="http://schemas.microsoft.com/office/drawing/2014/main" val="1478268964"/>
                    </a:ext>
                  </a:extLst>
                </a:gridCol>
                <a:gridCol w="2876238">
                  <a:extLst>
                    <a:ext uri="{9D8B030D-6E8A-4147-A177-3AD203B41FA5}">
                      <a16:colId xmlns:a16="http://schemas.microsoft.com/office/drawing/2014/main" val="2254491291"/>
                    </a:ext>
                  </a:extLst>
                </a:gridCol>
                <a:gridCol w="2876238">
                  <a:extLst>
                    <a:ext uri="{9D8B030D-6E8A-4147-A177-3AD203B41FA5}">
                      <a16:colId xmlns:a16="http://schemas.microsoft.com/office/drawing/2014/main" val="4282421776"/>
                    </a:ext>
                  </a:extLst>
                </a:gridCol>
              </a:tblGrid>
              <a:tr h="3114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Enhanced Knowledge Co-Creation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User-Friendly Interface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Scalability and Flexibility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Security and Compliance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968010"/>
                  </a:ext>
                </a:extLst>
              </a:tr>
              <a:tr h="5577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Facilitates the generation of high-quality content by leveraging existing knowledge and resources within IFC.</a:t>
                      </a:r>
                    </a:p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Enables users to create comprehensive response documents efficiently.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Intuitive and seamless user experience for both Business and IT Users.</a:t>
                      </a:r>
                    </a:p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Simplifies complex AI and data processing tasks, making them accessible to non-technical users.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React.js and Fast API frameworks ensure scalability and flexibility for future modifications.</a:t>
                      </a:r>
                    </a:p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Azure App Services provide automatic scaling based on demand.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SSO authentication and OAuth2 authorization ensure secure access.</a:t>
                      </a:r>
                    </a:p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Managed Identity for secure authentication and authorization to Azure services.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14779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Efficient Data Management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Advanced AI Capabilities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Operational Efficiency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400" b="1" i="0" u="none" strike="noStrike" kern="1200" baseline="0" dirty="0">
                          <a:solidFill>
                            <a:schemeClr val="l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Real-Time Monitoring and Insights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45694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171450" lvl="1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Azure Blob Storage and Cosmos DB ensure efficient storage and retrieval of documents and metadata.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Azure AI Search provides powerful search capabilities for quick access to relevant information.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171450" lvl="1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Integration with Azure OpenAI and GPT models for generating accurate and contextually relevant responses.</a:t>
                      </a:r>
                    </a:p>
                    <a:p>
                      <a:pPr marL="171450" lvl="1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Retrieval Augmented Generation approach enhances the quality of generated content.</a:t>
                      </a:r>
                    </a:p>
                    <a:p>
                      <a:pPr algn="l"/>
                      <a:endParaRPr lang="en-US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171450" lvl="1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Reduces the operational overhead by managing the underlying infrastructure through Azure App Services.</a:t>
                      </a:r>
                    </a:p>
                    <a:p>
                      <a:pPr marL="171450" lvl="1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Streamlines the process of document analysis, prompt engineering, and response generation.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171450" lvl="1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Azure Application Insights for real-time monitoring and diagnostics.</a:t>
                      </a:r>
                    </a:p>
                    <a:p>
                      <a:pPr marL="171450" lvl="1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Provides insights into application health, performance, and usage.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00392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B70EC1C-D011-D918-5A15-5AFBA521C0C4}"/>
              </a:ext>
            </a:extLst>
          </p:cNvPr>
          <p:cNvSpPr txBox="1"/>
          <p:nvPr/>
        </p:nvSpPr>
        <p:spPr>
          <a:xfrm>
            <a:off x="194382" y="5151043"/>
            <a:ext cx="115049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gradFill flip="none" rotWithShape="1">
                  <a:gsLst>
                    <a:gs pos="88000">
                      <a:srgbClr val="0F99E2"/>
                    </a:gs>
                    <a:gs pos="1000">
                      <a:srgbClr val="4B0082"/>
                    </a:gs>
                  </a:gsLst>
                  <a:lin ang="13800000" scaled="0"/>
                  <a:tileRect/>
                </a:gradFill>
                <a:latin typeface="Frutiger 45 bold"/>
                <a:cs typeface="Calibri" panose="020F0502020204030204" pitchFamily="34" charset="0"/>
              </a:rPr>
              <a:t>Technology Stack: </a:t>
            </a:r>
            <a:r>
              <a:rPr lang="en-US" dirty="0">
                <a:latin typeface="Source Sans Pro" panose="020B0503030403020204" pitchFamily="34" charset="0"/>
              </a:rPr>
              <a:t>The frontend of the application is built using React.js, while the backend is developed with Python and the </a:t>
            </a:r>
            <a:r>
              <a:rPr lang="en-US" dirty="0" err="1">
                <a:latin typeface="Source Sans Pro" panose="020B0503030403020204" pitchFamily="34" charset="0"/>
              </a:rPr>
              <a:t>FastAPI</a:t>
            </a:r>
            <a:r>
              <a:rPr lang="en-US" dirty="0">
                <a:latin typeface="Source Sans Pro" panose="020B0503030403020204" pitchFamily="34" charset="0"/>
              </a:rPr>
              <a:t> framework. Both components are hosted on Azure App Services. The frontend employs Single Sign-On (SSO) for authentication, and the backend uses OAuth2 for authorization. The solution integrates various Azure services, including Blob Storage, Cosmos DB, AI Search, AI Document Intelligence, and OpenAI GPT models.</a:t>
            </a:r>
          </a:p>
        </p:txBody>
      </p:sp>
    </p:spTree>
    <p:extLst>
      <p:ext uri="{BB962C8B-B14F-4D97-AF65-F5344CB8AC3E}">
        <p14:creationId xmlns:p14="http://schemas.microsoft.com/office/powerpoint/2010/main" val="3185822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B8291-D59C-B757-1C54-AAAE8C57F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5D73E-C22B-00D0-FC83-65698F7F7B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7930" y="51075"/>
            <a:ext cx="11201399" cy="434975"/>
          </a:xfrm>
        </p:spPr>
        <p:txBody>
          <a:bodyPr/>
          <a:lstStyle/>
          <a:p>
            <a:r>
              <a:rPr lang="en-IN" dirty="0">
                <a:latin typeface="Frutiger 45 bold"/>
              </a:rPr>
              <a:t>Solution</a:t>
            </a:r>
            <a:r>
              <a:rPr lang="en-IN" b="1" dirty="0"/>
              <a:t> </a:t>
            </a:r>
            <a:r>
              <a:rPr lang="en-IN" dirty="0">
                <a:latin typeface="Frutiger 45 bold"/>
              </a:rPr>
              <a:t>Architecture Diagram</a:t>
            </a:r>
            <a:endParaRPr lang="en-US" dirty="0">
              <a:latin typeface="Frutiger 45 bold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6B204D2-2C4E-278A-42AE-744F232FC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73" y="644577"/>
            <a:ext cx="768096" cy="22250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DD5646-D4C2-A55B-A765-AF7D3465D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987" y="585159"/>
            <a:ext cx="10297178" cy="55506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A248A41-E515-6A07-478B-FC10CFCAB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63" y="3046476"/>
            <a:ext cx="641604" cy="76504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4EBDEDC-E69F-5303-FB6B-4D278D14E4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3480" y="715780"/>
            <a:ext cx="278892" cy="28194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02C162F-4DA1-993F-ADD7-94D20417D2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0569" y="1069382"/>
            <a:ext cx="185928" cy="18897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40D4FF6-ADC6-FAB5-B1EF-3D3F57E41C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6497" y="5788618"/>
            <a:ext cx="278892" cy="28194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71604C1-E685-3482-F77B-6F18FEB045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8130" y="6247151"/>
            <a:ext cx="1409077" cy="54150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B91935E-C0BB-AF6E-B092-3B1A7FE69C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4956" y="6303363"/>
            <a:ext cx="275844" cy="27584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D9933B9-DE3C-0BA4-1E49-D6D04AF2F9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8346" y="6249692"/>
            <a:ext cx="275844" cy="27584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3958F0A-E539-FE73-0C11-2FC5C7CAD167}"/>
              </a:ext>
            </a:extLst>
          </p:cNvPr>
          <p:cNvSpPr txBox="1"/>
          <p:nvPr/>
        </p:nvSpPr>
        <p:spPr>
          <a:xfrm>
            <a:off x="2607532" y="6527697"/>
            <a:ext cx="125069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Azure CI/CD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06724D-E8A3-95F0-ED20-81609F2E9600}"/>
              </a:ext>
            </a:extLst>
          </p:cNvPr>
          <p:cNvSpPr txBox="1"/>
          <p:nvPr/>
        </p:nvSpPr>
        <p:spPr>
          <a:xfrm>
            <a:off x="869518" y="6546868"/>
            <a:ext cx="6093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Azure DevOps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3B20A98C-A87A-56FA-E0E2-0C0C62785B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6517" y="6232594"/>
            <a:ext cx="2628277" cy="521032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8F62A882-3ED0-CDE8-82A9-788FC8B53C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09535" y="6244580"/>
            <a:ext cx="275844" cy="27584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8E50EEB3-F5AF-0F3B-A954-71DA26BE96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1236" y="6244681"/>
            <a:ext cx="275844" cy="275844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08EE16A7-2973-7CEB-8892-E645590C3EA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14518" y="6226827"/>
            <a:ext cx="275844" cy="275844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159A6B98-2D04-1CEA-61FF-78CEB602BD04}"/>
              </a:ext>
            </a:extLst>
          </p:cNvPr>
          <p:cNvSpPr txBox="1"/>
          <p:nvPr/>
        </p:nvSpPr>
        <p:spPr>
          <a:xfrm>
            <a:off x="2607532" y="6476404"/>
            <a:ext cx="6093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Log Analytics</a:t>
            </a:r>
          </a:p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Workspace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2CF4768-1B48-A56A-1AD3-59D01F218090}"/>
              </a:ext>
            </a:extLst>
          </p:cNvPr>
          <p:cNvSpPr txBox="1"/>
          <p:nvPr/>
        </p:nvSpPr>
        <p:spPr>
          <a:xfrm>
            <a:off x="3490968" y="6508526"/>
            <a:ext cx="6093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Application Insights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AB2FC35-EF23-F8A0-4D65-6462A4346513}"/>
              </a:ext>
            </a:extLst>
          </p:cNvPr>
          <p:cNvSpPr txBox="1"/>
          <p:nvPr/>
        </p:nvSpPr>
        <p:spPr>
          <a:xfrm>
            <a:off x="4497805" y="6494327"/>
            <a:ext cx="6093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Azure Monitor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125BD9F-B526-6C98-DECB-126481BBA651}"/>
              </a:ext>
            </a:extLst>
          </p:cNvPr>
          <p:cNvSpPr txBox="1"/>
          <p:nvPr/>
        </p:nvSpPr>
        <p:spPr>
          <a:xfrm>
            <a:off x="1458939" y="5983703"/>
            <a:ext cx="6093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Vnet</a:t>
            </a:r>
            <a:endParaRPr lang="en-US" sz="800"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F98471E5-AC4B-D2AE-0057-1586F6258EB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82792" y="2456353"/>
            <a:ext cx="3176016" cy="2428435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53E67DF5-94DC-A6E4-E1AB-482E1F29F9F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72425" y="2363205"/>
            <a:ext cx="185928" cy="187452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D2A55069-8EA2-39EF-2ECA-B5A05438578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58353" y="4790807"/>
            <a:ext cx="278892" cy="153924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E43BA1AD-CDE2-7C19-1539-002561885D5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44658" y="2550657"/>
            <a:ext cx="307848" cy="310896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30827C4A-C675-504A-6A27-DD9A0C44519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58227" y="2672086"/>
            <a:ext cx="1906524" cy="1001268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03C6E304-5D11-E512-5A5D-48250D7AE80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70139" y="3713050"/>
            <a:ext cx="1687068" cy="935736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3BA02EAC-A39E-53A0-F887-DB1AFC13A7B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29657" y="2687367"/>
            <a:ext cx="278892" cy="28194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4E43DB2F-5C5B-9C1A-10D7-3F3F9437BB0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80543" y="2749851"/>
            <a:ext cx="413004" cy="156972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933A32D9-2D39-F9CD-4291-ADAF3211F00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97799" y="4193121"/>
            <a:ext cx="278892" cy="281940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A2767782-194D-BD6F-8B29-829DABF3CE8F}"/>
              </a:ext>
            </a:extLst>
          </p:cNvPr>
          <p:cNvSpPr txBox="1"/>
          <p:nvPr/>
        </p:nvSpPr>
        <p:spPr>
          <a:xfrm>
            <a:off x="-909505" y="4963752"/>
            <a:ext cx="6093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Subnet 1:  ase2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561DFF6-0EAE-0DAE-0F35-D8DF6AE757FE}"/>
              </a:ext>
            </a:extLst>
          </p:cNvPr>
          <p:cNvSpPr txBox="1"/>
          <p:nvPr/>
        </p:nvSpPr>
        <p:spPr>
          <a:xfrm>
            <a:off x="16876" y="2673013"/>
            <a:ext cx="65507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API (Python Fast API) Services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700AECD9-224E-73D3-CB8E-91DACCAF976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87045" y="2911052"/>
            <a:ext cx="371856" cy="374904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E8074EFF-12A6-CD54-CF04-426F2988483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043041" y="2889365"/>
            <a:ext cx="371856" cy="374904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EF6172CC-75EA-6F10-7313-159996B35F3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730340" y="2896821"/>
            <a:ext cx="371856" cy="374904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7F32F566-B9A4-34D8-1C7F-8F56CA836CCB}"/>
              </a:ext>
            </a:extLst>
          </p:cNvPr>
          <p:cNvSpPr txBox="1"/>
          <p:nvPr/>
        </p:nvSpPr>
        <p:spPr>
          <a:xfrm>
            <a:off x="1019524" y="3361547"/>
            <a:ext cx="3176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App Servi</a:t>
            </a:r>
            <a:r>
              <a:rPr lang="en-US" sz="700" b="0" i="1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c</a:t>
            </a:r>
            <a:r>
              <a:rPr lang="en-US" sz="700" i="1" dirty="0">
                <a:solidFill>
                  <a:srgbClr val="000000"/>
                </a:solidFill>
                <a:latin typeface="Calibri" panose="020F0502020204030204" pitchFamily="34" charset="0"/>
              </a:rPr>
              <a:t>e1 </a:t>
            </a:r>
          </a:p>
          <a:p>
            <a:pPr algn="ctr"/>
            <a:r>
              <a:rPr lang="en-US" sz="700" i="1" dirty="0">
                <a:solidFill>
                  <a:srgbClr val="000000"/>
                </a:solidFill>
                <a:latin typeface="Calibri" panose="020F0502020204030204" pitchFamily="34" charset="0"/>
              </a:rPr>
              <a:t>Space Mgmt</a:t>
            </a:r>
            <a:endParaRPr lang="en-US" sz="700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C3750D0-1D83-AD30-67CC-89C1DDC449A8}"/>
              </a:ext>
            </a:extLst>
          </p:cNvPr>
          <p:cNvSpPr txBox="1"/>
          <p:nvPr/>
        </p:nvSpPr>
        <p:spPr>
          <a:xfrm>
            <a:off x="499778" y="3200320"/>
            <a:ext cx="317601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7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PORT 443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45D6F7B-6A49-A2CA-B518-3B7B66F4E81C}"/>
              </a:ext>
            </a:extLst>
          </p:cNvPr>
          <p:cNvSpPr txBox="1"/>
          <p:nvPr/>
        </p:nvSpPr>
        <p:spPr>
          <a:xfrm>
            <a:off x="2215446" y="3335579"/>
            <a:ext cx="3176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App Servi</a:t>
            </a:r>
            <a:r>
              <a:rPr lang="en-US" sz="700" b="0" i="1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c</a:t>
            </a:r>
            <a:r>
              <a:rPr lang="en-US" sz="700" i="1" dirty="0">
                <a:solidFill>
                  <a:srgbClr val="000000"/>
                </a:solidFill>
                <a:latin typeface="Calibri" panose="020F0502020204030204" pitchFamily="34" charset="0"/>
              </a:rPr>
              <a:t>e3 </a:t>
            </a:r>
          </a:p>
          <a:p>
            <a:pPr algn="ctr"/>
            <a:r>
              <a:rPr lang="en-US" sz="700" i="1" dirty="0">
                <a:solidFill>
                  <a:srgbClr val="000000"/>
                </a:solidFill>
                <a:latin typeface="Calibri" panose="020F0502020204030204" pitchFamily="34" charset="0"/>
              </a:rPr>
              <a:t>Prompt Studio</a:t>
            </a:r>
            <a:endParaRPr lang="en-US" sz="700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1E79F1D-7865-08A0-F8DC-AC2A6FA23FFD}"/>
              </a:ext>
            </a:extLst>
          </p:cNvPr>
          <p:cNvSpPr txBox="1"/>
          <p:nvPr/>
        </p:nvSpPr>
        <p:spPr>
          <a:xfrm>
            <a:off x="5998630" y="3617985"/>
            <a:ext cx="6550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Azure</a:t>
            </a:r>
          </a:p>
          <a:p>
            <a:pPr algn="ctr" rtl="0"/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</a:rPr>
              <a:t>AI Doc</a:t>
            </a:r>
          </a:p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Intelligence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C8F4FA8-91C9-E3DC-E6AA-864C2D3B7B05}"/>
              </a:ext>
            </a:extLst>
          </p:cNvPr>
          <p:cNvSpPr txBox="1"/>
          <p:nvPr/>
        </p:nvSpPr>
        <p:spPr>
          <a:xfrm>
            <a:off x="-1159238" y="4472895"/>
            <a:ext cx="65507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7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Azure Entra ID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883E6A7-6499-500F-E584-5F68185EE847}"/>
              </a:ext>
            </a:extLst>
          </p:cNvPr>
          <p:cNvSpPr txBox="1"/>
          <p:nvPr/>
        </p:nvSpPr>
        <p:spPr>
          <a:xfrm>
            <a:off x="3972" y="3751381"/>
            <a:ext cx="66931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UI (SPA)</a:t>
            </a: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47086B53-BC0A-FF48-67CB-397471498D9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700170" y="3941962"/>
            <a:ext cx="353568" cy="356616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7CF3DBA7-39C7-2ACC-2265-2E06B1DD004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711275" y="3940520"/>
            <a:ext cx="353568" cy="356616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FE5A0FAA-7FDE-A3A7-3D1F-8BEA49CBCCC1}"/>
              </a:ext>
            </a:extLst>
          </p:cNvPr>
          <p:cNvSpPr txBox="1"/>
          <p:nvPr/>
        </p:nvSpPr>
        <p:spPr>
          <a:xfrm>
            <a:off x="-469600" y="4316307"/>
            <a:ext cx="6693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7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App Service 1</a:t>
            </a:r>
          </a:p>
          <a:p>
            <a:pPr algn="ctr" rtl="0"/>
            <a:r>
              <a:rPr lang="en-US" sz="7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IT User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8215541-5603-660D-21DD-095D37DF937D}"/>
              </a:ext>
            </a:extLst>
          </p:cNvPr>
          <p:cNvSpPr txBox="1"/>
          <p:nvPr/>
        </p:nvSpPr>
        <p:spPr>
          <a:xfrm>
            <a:off x="532473" y="4300842"/>
            <a:ext cx="66931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700" b="0" i="0" u="none" strike="noStrike" kern="1200" baseline="0">
                <a:solidFill>
                  <a:srgbClr val="000000"/>
                </a:solidFill>
                <a:latin typeface="Calibri" panose="020F0502020204030204" pitchFamily="34" charset="0"/>
              </a:rPr>
              <a:t>App Service 2</a:t>
            </a:r>
          </a:p>
          <a:p>
            <a:pPr algn="ctr" rtl="0"/>
            <a:r>
              <a:rPr lang="en-US" sz="700" b="0" i="0" u="none" strike="noStrike" kern="1200" baseline="0">
                <a:solidFill>
                  <a:srgbClr val="000000"/>
                </a:solidFill>
                <a:latin typeface="Calibri" panose="020F0502020204030204" pitchFamily="34" charset="0"/>
              </a:rPr>
              <a:t>Business User</a:t>
            </a:r>
            <a:endParaRPr lang="en-US" sz="700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21F4E19-367C-A088-3E4F-3EABC57147A7}"/>
              </a:ext>
            </a:extLst>
          </p:cNvPr>
          <p:cNvSpPr txBox="1"/>
          <p:nvPr/>
        </p:nvSpPr>
        <p:spPr>
          <a:xfrm>
            <a:off x="1581285" y="3339633"/>
            <a:ext cx="3176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App Servi</a:t>
            </a:r>
            <a:r>
              <a:rPr lang="en-US" sz="700" b="0" i="1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c</a:t>
            </a:r>
            <a:r>
              <a:rPr lang="en-US" sz="700" i="1" dirty="0">
                <a:solidFill>
                  <a:srgbClr val="000000"/>
                </a:solidFill>
                <a:latin typeface="Calibri" panose="020F0502020204030204" pitchFamily="34" charset="0"/>
              </a:rPr>
              <a:t>e2 </a:t>
            </a:r>
          </a:p>
          <a:p>
            <a:pPr algn="ctr"/>
            <a:r>
              <a:rPr lang="en-US" sz="700" i="1" dirty="0">
                <a:solidFill>
                  <a:srgbClr val="000000"/>
                </a:solidFill>
                <a:latin typeface="Calibri" panose="020F0502020204030204" pitchFamily="34" charset="0"/>
              </a:rPr>
              <a:t>Doc Mgmt</a:t>
            </a:r>
            <a:endParaRPr lang="en-US" sz="700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C530672D-EC64-E2E3-BCD7-06C809B381E5}"/>
              </a:ext>
            </a:extLst>
          </p:cNvPr>
          <p:cNvSpPr txBox="1"/>
          <p:nvPr/>
        </p:nvSpPr>
        <p:spPr>
          <a:xfrm>
            <a:off x="758004" y="4012198"/>
            <a:ext cx="317601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7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PORT 443</a:t>
            </a:r>
          </a:p>
        </p:txBody>
      </p:sp>
      <p:pic>
        <p:nvPicPr>
          <p:cNvPr id="140" name="Picture 139">
            <a:extLst>
              <a:ext uri="{FF2B5EF4-FFF2-40B4-BE49-F238E27FC236}">
                <a16:creationId xmlns:a16="http://schemas.microsoft.com/office/drawing/2014/main" id="{1C445166-7CA2-8D64-0BB7-A6673A10353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94562" y="1416274"/>
            <a:ext cx="3617324" cy="4136083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0AC16F47-9ED0-2E67-7030-BC8F15A79C2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91640" y="1371013"/>
            <a:ext cx="185928" cy="185928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A66DA511-C0C0-0307-96D2-21FE87F8F8DB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26657" y="5465385"/>
            <a:ext cx="277368" cy="155448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F3005B68-E9E2-E9F0-93CC-CAB26264CC35}"/>
              </a:ext>
            </a:extLst>
          </p:cNvPr>
          <p:cNvSpPr txBox="1"/>
          <p:nvPr/>
        </p:nvSpPr>
        <p:spPr>
          <a:xfrm>
            <a:off x="3488802" y="5534107"/>
            <a:ext cx="667062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700" b="0" i="0" u="none" strike="noStrike" kern="1200" baseline="0">
                <a:solidFill>
                  <a:srgbClr val="000000"/>
                </a:solidFill>
                <a:latin typeface="Calibri" panose="020F0502020204030204" pitchFamily="34" charset="0"/>
              </a:rPr>
              <a:t>Subnet 2:  misc</a:t>
            </a:r>
            <a:endParaRPr lang="en-US" sz="700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148" name="Picture 147">
            <a:extLst>
              <a:ext uri="{FF2B5EF4-FFF2-40B4-BE49-F238E27FC236}">
                <a16:creationId xmlns:a16="http://schemas.microsoft.com/office/drawing/2014/main" id="{9E633220-5BD5-D4C0-CF9C-4B1B6CDD0F4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620232" y="1598581"/>
            <a:ext cx="481584" cy="3749040"/>
          </a:xfrm>
          <a:prstGeom prst="rect">
            <a:avLst/>
          </a:pr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AEBA2E44-F0C7-84BB-3A76-F0B99928706C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968746" y="3313938"/>
            <a:ext cx="254508" cy="230124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3F008B80-209E-6A9A-7BA6-740867665C5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740514" y="1720848"/>
            <a:ext cx="222504" cy="207264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E796B10F-685D-E9E9-0A3D-ED4347F3E60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749772" y="2379911"/>
            <a:ext cx="222504" cy="207264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80AB2593-534E-8DDE-D586-34C482BC54A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749772" y="3085181"/>
            <a:ext cx="222504" cy="207264"/>
          </a:xfrm>
          <a:prstGeom prst="rect">
            <a:avLst/>
          </a:prstGeom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F48D2256-6A9E-4C7D-7F23-D20A3411247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733781" y="3771426"/>
            <a:ext cx="222504" cy="207264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40138CDE-C02A-A6BF-DA5A-2F51D84039D8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748339" y="4372128"/>
            <a:ext cx="222504" cy="207264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7F4410FC-63C8-7B1B-8103-637BBA761EB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753360" y="4930771"/>
            <a:ext cx="222504" cy="207264"/>
          </a:xfrm>
          <a:prstGeom prst="rect">
            <a:avLst/>
          </a:prstGeom>
        </p:spPr>
      </p:pic>
      <p:pic>
        <p:nvPicPr>
          <p:cNvPr id="164" name="Picture 163">
            <a:extLst>
              <a:ext uri="{FF2B5EF4-FFF2-40B4-BE49-F238E27FC236}">
                <a16:creationId xmlns:a16="http://schemas.microsoft.com/office/drawing/2014/main" id="{C0DBB1F3-5DD9-BB90-9E8A-056D1A69EFA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477021" y="1598160"/>
            <a:ext cx="275844" cy="275844"/>
          </a:xfrm>
          <a:prstGeom prst="rect">
            <a:avLst/>
          </a:pr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id="{B5DE494C-2E44-0C79-FF56-F32D668466A6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476450" y="2452697"/>
            <a:ext cx="275844" cy="275844"/>
          </a:xfrm>
          <a:prstGeom prst="rect">
            <a:avLst/>
          </a:prstGeom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C774C0A2-1C65-F9A2-5C29-7A3C5E500C41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458219" y="1616101"/>
            <a:ext cx="1330452" cy="545592"/>
          </a:xfrm>
          <a:prstGeom prst="rect">
            <a:avLst/>
          </a:prstGeom>
        </p:spPr>
      </p:pic>
      <p:pic>
        <p:nvPicPr>
          <p:cNvPr id="170" name="Picture 169">
            <a:extLst>
              <a:ext uri="{FF2B5EF4-FFF2-40B4-BE49-F238E27FC236}">
                <a16:creationId xmlns:a16="http://schemas.microsoft.com/office/drawing/2014/main" id="{8044A1AE-66DB-F62A-1072-76C45CA85A8A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458219" y="4220843"/>
            <a:ext cx="1330452" cy="545592"/>
          </a:xfrm>
          <a:prstGeom prst="rect">
            <a:avLst/>
          </a:prstGeom>
        </p:spPr>
      </p:pic>
      <p:pic>
        <p:nvPicPr>
          <p:cNvPr id="172" name="Picture 171">
            <a:extLst>
              <a:ext uri="{FF2B5EF4-FFF2-40B4-BE49-F238E27FC236}">
                <a16:creationId xmlns:a16="http://schemas.microsoft.com/office/drawing/2014/main" id="{48AF798C-34A4-E528-563E-9F367C5DA220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458219" y="3565654"/>
            <a:ext cx="1330452" cy="545592"/>
          </a:xfrm>
          <a:prstGeom prst="rect">
            <a:avLst/>
          </a:prstGeom>
        </p:spPr>
      </p:pic>
      <p:pic>
        <p:nvPicPr>
          <p:cNvPr id="174" name="Picture 173">
            <a:extLst>
              <a:ext uri="{FF2B5EF4-FFF2-40B4-BE49-F238E27FC236}">
                <a16:creationId xmlns:a16="http://schemas.microsoft.com/office/drawing/2014/main" id="{B9B1F6E9-8A1A-8BBF-F5C3-E5B9067EE026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473099" y="2283020"/>
            <a:ext cx="1330452" cy="545592"/>
          </a:xfrm>
          <a:prstGeom prst="rect">
            <a:avLst/>
          </a:prstGeom>
        </p:spPr>
      </p:pic>
      <p:pic>
        <p:nvPicPr>
          <p:cNvPr id="176" name="Picture 175">
            <a:extLst>
              <a:ext uri="{FF2B5EF4-FFF2-40B4-BE49-F238E27FC236}">
                <a16:creationId xmlns:a16="http://schemas.microsoft.com/office/drawing/2014/main" id="{9DFDE22B-7B09-4EAB-C3B2-F9AD551C3C3C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458219" y="2924710"/>
            <a:ext cx="1330452" cy="545592"/>
          </a:xfrm>
          <a:prstGeom prst="rect">
            <a:avLst/>
          </a:prstGeom>
        </p:spPr>
      </p:pic>
      <p:pic>
        <p:nvPicPr>
          <p:cNvPr id="178" name="Picture 177">
            <a:extLst>
              <a:ext uri="{FF2B5EF4-FFF2-40B4-BE49-F238E27FC236}">
                <a16:creationId xmlns:a16="http://schemas.microsoft.com/office/drawing/2014/main" id="{ED94F303-8EEB-A206-80B9-9AD7C255DCDD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484631" y="4838307"/>
            <a:ext cx="1330452" cy="545592"/>
          </a:xfrm>
          <a:prstGeom prst="rect">
            <a:avLst/>
          </a:prstGeom>
        </p:spPr>
      </p:pic>
      <p:sp>
        <p:nvSpPr>
          <p:cNvPr id="180" name="TextBox 179">
            <a:extLst>
              <a:ext uri="{FF2B5EF4-FFF2-40B4-BE49-F238E27FC236}">
                <a16:creationId xmlns:a16="http://schemas.microsoft.com/office/drawing/2014/main" id="{A02B33F7-9CBC-25AD-D299-4E91D1744820}"/>
              </a:ext>
            </a:extLst>
          </p:cNvPr>
          <p:cNvSpPr txBox="1"/>
          <p:nvPr/>
        </p:nvSpPr>
        <p:spPr>
          <a:xfrm>
            <a:off x="5897439" y="1707340"/>
            <a:ext cx="66706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800" b="0" i="0" u="none" strike="noStrike" kern="1200" baseline="0">
                <a:solidFill>
                  <a:srgbClr val="000000"/>
                </a:solidFill>
                <a:latin typeface="Calibri" panose="020F0502020204030204" pitchFamily="34" charset="0"/>
              </a:rPr>
              <a:t>Azure</a:t>
            </a:r>
          </a:p>
          <a:p>
            <a:pPr algn="ctr" rtl="0"/>
            <a:r>
              <a:rPr lang="en-US" sz="800" b="0" i="0" u="none" strike="noStrike" kern="1200" baseline="0">
                <a:solidFill>
                  <a:srgbClr val="000000"/>
                </a:solidFill>
                <a:latin typeface="Calibri" panose="020F0502020204030204" pitchFamily="34" charset="0"/>
              </a:rPr>
              <a:t>Key Vault</a:t>
            </a:r>
            <a:endParaRPr lang="en-US" sz="800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182" name="Picture 181">
            <a:extLst>
              <a:ext uri="{FF2B5EF4-FFF2-40B4-BE49-F238E27FC236}">
                <a16:creationId xmlns:a16="http://schemas.microsoft.com/office/drawing/2014/main" id="{F41912D9-4ECA-109C-CCB4-1B823BB2CC20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557712" y="1701670"/>
            <a:ext cx="367284" cy="367284"/>
          </a:xfrm>
          <a:prstGeom prst="rect">
            <a:avLst/>
          </a:prstGeom>
        </p:spPr>
      </p:pic>
      <p:pic>
        <p:nvPicPr>
          <p:cNvPr id="184" name="Picture 183">
            <a:extLst>
              <a:ext uri="{FF2B5EF4-FFF2-40B4-BE49-F238E27FC236}">
                <a16:creationId xmlns:a16="http://schemas.microsoft.com/office/drawing/2014/main" id="{8C6C356C-25A7-0E92-8753-345FDA2B5A96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512754" y="2383675"/>
            <a:ext cx="457200" cy="394708"/>
          </a:xfrm>
          <a:prstGeom prst="rect">
            <a:avLst/>
          </a:pr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C8E53DB3-72D8-D5E8-44A1-AE7F6441E1FC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407598" y="3027002"/>
            <a:ext cx="667512" cy="417576"/>
          </a:xfrm>
          <a:prstGeom prst="rect">
            <a:avLst/>
          </a:prstGeom>
        </p:spPr>
      </p:pic>
      <p:pic>
        <p:nvPicPr>
          <p:cNvPr id="188" name="Picture 187">
            <a:extLst>
              <a:ext uri="{FF2B5EF4-FFF2-40B4-BE49-F238E27FC236}">
                <a16:creationId xmlns:a16="http://schemas.microsoft.com/office/drawing/2014/main" id="{AB9571BA-7CD5-212C-109B-4340A953EA32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540186" y="3656788"/>
            <a:ext cx="402336" cy="385572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AE315BAC-C74E-5577-BE0C-CB5D85680D3E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540186" y="4286141"/>
            <a:ext cx="355092" cy="355092"/>
          </a:xfrm>
          <a:prstGeom prst="rect">
            <a:avLst/>
          </a:prstGeom>
        </p:spPr>
      </p:pic>
      <p:pic>
        <p:nvPicPr>
          <p:cNvPr id="192" name="Picture 191">
            <a:extLst>
              <a:ext uri="{FF2B5EF4-FFF2-40B4-BE49-F238E27FC236}">
                <a16:creationId xmlns:a16="http://schemas.microsoft.com/office/drawing/2014/main" id="{83E47C77-6DAA-6603-302D-E9A01E540BEE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562696" y="4885082"/>
            <a:ext cx="382524" cy="355092"/>
          </a:xfrm>
          <a:prstGeom prst="rect">
            <a:avLst/>
          </a:prstGeom>
        </p:spPr>
      </p:pic>
      <p:sp>
        <p:nvSpPr>
          <p:cNvPr id="194" name="TextBox 193">
            <a:extLst>
              <a:ext uri="{FF2B5EF4-FFF2-40B4-BE49-F238E27FC236}">
                <a16:creationId xmlns:a16="http://schemas.microsoft.com/office/drawing/2014/main" id="{91939439-B2B3-37E3-BB40-63427BADAACD}"/>
              </a:ext>
            </a:extLst>
          </p:cNvPr>
          <p:cNvSpPr txBox="1"/>
          <p:nvPr/>
        </p:nvSpPr>
        <p:spPr>
          <a:xfrm>
            <a:off x="5859970" y="2412276"/>
            <a:ext cx="68280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Azure</a:t>
            </a:r>
          </a:p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Blob Storage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33F71533-262F-258F-97FC-CEB7A0CD0C86}"/>
              </a:ext>
            </a:extLst>
          </p:cNvPr>
          <p:cNvSpPr txBox="1"/>
          <p:nvPr/>
        </p:nvSpPr>
        <p:spPr>
          <a:xfrm>
            <a:off x="5815000" y="3011926"/>
            <a:ext cx="6917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Azure</a:t>
            </a:r>
          </a:p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Cosmos DB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685E8FE4-B971-45CC-26D1-C5213B1955CC}"/>
              </a:ext>
            </a:extLst>
          </p:cNvPr>
          <p:cNvSpPr txBox="1"/>
          <p:nvPr/>
        </p:nvSpPr>
        <p:spPr>
          <a:xfrm>
            <a:off x="5784567" y="4256129"/>
            <a:ext cx="69404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800" b="0" i="0" u="none" strike="noStrike" kern="1200" baseline="0">
                <a:solidFill>
                  <a:srgbClr val="000000"/>
                </a:solidFill>
                <a:latin typeface="Calibri" panose="020F0502020204030204" pitchFamily="34" charset="0"/>
              </a:rPr>
              <a:t>Azure</a:t>
            </a:r>
          </a:p>
          <a:p>
            <a:pPr algn="ctr" rtl="0"/>
            <a:r>
              <a:rPr lang="en-US" sz="800" b="0" i="0" u="none" strike="noStrike" kern="1200" baseline="0">
                <a:solidFill>
                  <a:srgbClr val="000000"/>
                </a:solidFill>
                <a:latin typeface="Calibri" panose="020F0502020204030204" pitchFamily="34" charset="0"/>
              </a:rPr>
              <a:t>AI Search</a:t>
            </a:r>
            <a:endParaRPr lang="en-US" sz="800" b="0" i="0" u="none" strike="noStrike" kern="1200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1B15163F-0F50-A4FE-B394-1C55CF534CCC}"/>
              </a:ext>
            </a:extLst>
          </p:cNvPr>
          <p:cNvSpPr txBox="1"/>
          <p:nvPr/>
        </p:nvSpPr>
        <p:spPr>
          <a:xfrm>
            <a:off x="5785379" y="4946236"/>
            <a:ext cx="69404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Azure </a:t>
            </a:r>
          </a:p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Open AI</a:t>
            </a:r>
          </a:p>
        </p:txBody>
      </p:sp>
      <p:cxnSp>
        <p:nvCxnSpPr>
          <p:cNvPr id="204" name="Connector: Elbow 203">
            <a:extLst>
              <a:ext uri="{FF2B5EF4-FFF2-40B4-BE49-F238E27FC236}">
                <a16:creationId xmlns:a16="http://schemas.microsoft.com/office/drawing/2014/main" id="{DF998209-6B3A-1E75-015E-CF1244C40212}"/>
              </a:ext>
            </a:extLst>
          </p:cNvPr>
          <p:cNvCxnSpPr>
            <a:cxnSpLocks/>
          </p:cNvCxnSpPr>
          <p:nvPr/>
        </p:nvCxnSpPr>
        <p:spPr>
          <a:xfrm flipV="1">
            <a:off x="4264751" y="1977545"/>
            <a:ext cx="4219880" cy="12112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: Elbow 206">
            <a:extLst>
              <a:ext uri="{FF2B5EF4-FFF2-40B4-BE49-F238E27FC236}">
                <a16:creationId xmlns:a16="http://schemas.microsoft.com/office/drawing/2014/main" id="{03AFE711-F969-A262-9486-ABDB3E48378F}"/>
              </a:ext>
            </a:extLst>
          </p:cNvPr>
          <p:cNvCxnSpPr>
            <a:cxnSpLocks/>
            <a:stCxn id="78" idx="3"/>
          </p:cNvCxnSpPr>
          <p:nvPr/>
        </p:nvCxnSpPr>
        <p:spPr>
          <a:xfrm flipV="1">
            <a:off x="4264751" y="2624778"/>
            <a:ext cx="4222693" cy="5479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: Elbow 208">
            <a:extLst>
              <a:ext uri="{FF2B5EF4-FFF2-40B4-BE49-F238E27FC236}">
                <a16:creationId xmlns:a16="http://schemas.microsoft.com/office/drawing/2014/main" id="{99DBF651-F1B5-5E12-1DDD-CB9B2D0E5B69}"/>
              </a:ext>
            </a:extLst>
          </p:cNvPr>
          <p:cNvCxnSpPr>
            <a:cxnSpLocks/>
          </p:cNvCxnSpPr>
          <p:nvPr/>
        </p:nvCxnSpPr>
        <p:spPr>
          <a:xfrm>
            <a:off x="4305907" y="3178094"/>
            <a:ext cx="4198625" cy="103670"/>
          </a:xfrm>
          <a:prstGeom prst="bentConnector3">
            <a:avLst>
              <a:gd name="adj1" fmla="val 496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: Elbow 217">
            <a:extLst>
              <a:ext uri="{FF2B5EF4-FFF2-40B4-BE49-F238E27FC236}">
                <a16:creationId xmlns:a16="http://schemas.microsoft.com/office/drawing/2014/main" id="{2D5C8D21-1E9A-16F3-68CE-FA5BB9187550}"/>
              </a:ext>
            </a:extLst>
          </p:cNvPr>
          <p:cNvCxnSpPr>
            <a:cxnSpLocks/>
          </p:cNvCxnSpPr>
          <p:nvPr/>
        </p:nvCxnSpPr>
        <p:spPr>
          <a:xfrm>
            <a:off x="4296033" y="3175621"/>
            <a:ext cx="4147615" cy="6783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: Elbow 225">
            <a:extLst>
              <a:ext uri="{FF2B5EF4-FFF2-40B4-BE49-F238E27FC236}">
                <a16:creationId xmlns:a16="http://schemas.microsoft.com/office/drawing/2014/main" id="{367AACB5-998E-8BCE-2582-CFAA8AA04AA7}"/>
              </a:ext>
            </a:extLst>
          </p:cNvPr>
          <p:cNvCxnSpPr>
            <a:cxnSpLocks/>
            <a:stCxn id="78" idx="3"/>
          </p:cNvCxnSpPr>
          <p:nvPr/>
        </p:nvCxnSpPr>
        <p:spPr>
          <a:xfrm>
            <a:off x="4264751" y="3172720"/>
            <a:ext cx="4252681" cy="19533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: Elbow 228">
            <a:extLst>
              <a:ext uri="{FF2B5EF4-FFF2-40B4-BE49-F238E27FC236}">
                <a16:creationId xmlns:a16="http://schemas.microsoft.com/office/drawing/2014/main" id="{919BD11D-1F3F-2344-326C-954D4124BE71}"/>
              </a:ext>
            </a:extLst>
          </p:cNvPr>
          <p:cNvCxnSpPr>
            <a:cxnSpLocks/>
          </p:cNvCxnSpPr>
          <p:nvPr/>
        </p:nvCxnSpPr>
        <p:spPr>
          <a:xfrm>
            <a:off x="4352014" y="3178162"/>
            <a:ext cx="4079252" cy="1410117"/>
          </a:xfrm>
          <a:prstGeom prst="bentConnector3">
            <a:avLst>
              <a:gd name="adj1" fmla="val 5036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FC42A17A-B6B4-DFDB-1F96-DA4E18AAD735}"/>
              </a:ext>
            </a:extLst>
          </p:cNvPr>
          <p:cNvSpPr txBox="1"/>
          <p:nvPr/>
        </p:nvSpPr>
        <p:spPr>
          <a:xfrm>
            <a:off x="4698582" y="1832322"/>
            <a:ext cx="69404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PORT</a:t>
            </a:r>
          </a:p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443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E1E5749D-3B64-1CAE-2905-EDDC0B9117DB}"/>
              </a:ext>
            </a:extLst>
          </p:cNvPr>
          <p:cNvSpPr txBox="1"/>
          <p:nvPr/>
        </p:nvSpPr>
        <p:spPr>
          <a:xfrm>
            <a:off x="4715551" y="2461850"/>
            <a:ext cx="69404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PORT</a:t>
            </a:r>
          </a:p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443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FF1E735E-E2C2-9257-38AE-403000D694D2}"/>
              </a:ext>
            </a:extLst>
          </p:cNvPr>
          <p:cNvSpPr txBox="1"/>
          <p:nvPr/>
        </p:nvSpPr>
        <p:spPr>
          <a:xfrm>
            <a:off x="4698582" y="3135559"/>
            <a:ext cx="69404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PORT</a:t>
            </a:r>
          </a:p>
          <a:p>
            <a:pPr algn="ctr" rtl="0"/>
            <a:r>
              <a:rPr lang="en-US" sz="8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443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2D106795-BEA9-3A71-4AC3-7FA15F2CBEE9}"/>
              </a:ext>
            </a:extLst>
          </p:cNvPr>
          <p:cNvSpPr txBox="1"/>
          <p:nvPr/>
        </p:nvSpPr>
        <p:spPr>
          <a:xfrm>
            <a:off x="4690383" y="3701228"/>
            <a:ext cx="69404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7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PORT</a:t>
            </a:r>
          </a:p>
          <a:p>
            <a:pPr algn="ctr" rtl="0"/>
            <a:r>
              <a:rPr lang="en-US" sz="7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443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C657530D-6126-C0A6-92E8-25521DD74293}"/>
              </a:ext>
            </a:extLst>
          </p:cNvPr>
          <p:cNvSpPr txBox="1"/>
          <p:nvPr/>
        </p:nvSpPr>
        <p:spPr>
          <a:xfrm>
            <a:off x="4696910" y="4423328"/>
            <a:ext cx="69404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7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PORT</a:t>
            </a:r>
          </a:p>
          <a:p>
            <a:pPr algn="ctr" rtl="0"/>
            <a:r>
              <a:rPr lang="en-US" sz="7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443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D6AE74EA-933A-F68F-92A1-05B111893DC5}"/>
              </a:ext>
            </a:extLst>
          </p:cNvPr>
          <p:cNvSpPr txBox="1"/>
          <p:nvPr/>
        </p:nvSpPr>
        <p:spPr>
          <a:xfrm>
            <a:off x="4698582" y="4978038"/>
            <a:ext cx="69404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7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PORT</a:t>
            </a:r>
          </a:p>
          <a:p>
            <a:pPr algn="ctr" rtl="0"/>
            <a:r>
              <a:rPr lang="en-US" sz="700" b="0" i="0" u="none" strike="noStrike" kern="1200" baseline="0" dirty="0">
                <a:solidFill>
                  <a:srgbClr val="000000"/>
                </a:solidFill>
                <a:latin typeface="Calibri" panose="020F0502020204030204" pitchFamily="34" charset="0"/>
              </a:rPr>
              <a:t>443</a:t>
            </a:r>
          </a:p>
        </p:txBody>
      </p:sp>
      <p:pic>
        <p:nvPicPr>
          <p:cNvPr id="242" name="Picture 241">
            <a:extLst>
              <a:ext uri="{FF2B5EF4-FFF2-40B4-BE49-F238E27FC236}">
                <a16:creationId xmlns:a16="http://schemas.microsoft.com/office/drawing/2014/main" id="{8084B475-0FD7-2E7E-416E-E9FE8EBC0927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197347" y="4250880"/>
            <a:ext cx="571055" cy="215453"/>
          </a:xfrm>
          <a:prstGeom prst="rect">
            <a:avLst/>
          </a:prstGeom>
        </p:spPr>
      </p:pic>
      <p:cxnSp>
        <p:nvCxnSpPr>
          <p:cNvPr id="263" name="Connector: Elbow 262">
            <a:extLst>
              <a:ext uri="{FF2B5EF4-FFF2-40B4-BE49-F238E27FC236}">
                <a16:creationId xmlns:a16="http://schemas.microsoft.com/office/drawing/2014/main" id="{9024DB21-9C94-ACB2-389D-699CB21F4D6A}"/>
              </a:ext>
            </a:extLst>
          </p:cNvPr>
          <p:cNvCxnSpPr>
            <a:stCxn id="115" idx="1"/>
          </p:cNvCxnSpPr>
          <p:nvPr/>
        </p:nvCxnSpPr>
        <p:spPr>
          <a:xfrm rot="10800000" flipH="1" flipV="1">
            <a:off x="1019524" y="3515436"/>
            <a:ext cx="1588008" cy="564214"/>
          </a:xfrm>
          <a:prstGeom prst="bentConnector3">
            <a:avLst>
              <a:gd name="adj1" fmla="val 354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: Elbow 265">
            <a:extLst>
              <a:ext uri="{FF2B5EF4-FFF2-40B4-BE49-F238E27FC236}">
                <a16:creationId xmlns:a16="http://schemas.microsoft.com/office/drawing/2014/main" id="{539A6512-CD56-F2D4-CD95-B699F45571DA}"/>
              </a:ext>
            </a:extLst>
          </p:cNvPr>
          <p:cNvCxnSpPr>
            <a:stCxn id="115" idx="1"/>
          </p:cNvCxnSpPr>
          <p:nvPr/>
        </p:nvCxnSpPr>
        <p:spPr>
          <a:xfrm rot="10800000" flipH="1">
            <a:off x="1019523" y="3285956"/>
            <a:ext cx="1383805" cy="229480"/>
          </a:xfrm>
          <a:prstGeom prst="bentConnector3">
            <a:avLst>
              <a:gd name="adj1" fmla="val 406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219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DEA78-6CBE-C6C1-2AFB-E63C1D88B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Placeholder 1">
            <a:extLst>
              <a:ext uri="{FF2B5EF4-FFF2-40B4-BE49-F238E27FC236}">
                <a16:creationId xmlns:a16="http://schemas.microsoft.com/office/drawing/2014/main" id="{E77A1A47-9BE6-2D48-2309-1B8B2AAD7803}"/>
              </a:ext>
            </a:extLst>
          </p:cNvPr>
          <p:cNvSpPr txBox="1">
            <a:spLocks/>
          </p:cNvSpPr>
          <p:nvPr/>
        </p:nvSpPr>
        <p:spPr>
          <a:xfrm>
            <a:off x="303850" y="813629"/>
            <a:ext cx="11125200" cy="43497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8D8757F6-2804-C570-E1CC-5E2F0417A14F}"/>
              </a:ext>
            </a:extLst>
          </p:cNvPr>
          <p:cNvSpPr txBox="1">
            <a:spLocks/>
          </p:cNvSpPr>
          <p:nvPr/>
        </p:nvSpPr>
        <p:spPr>
          <a:xfrm>
            <a:off x="270101" y="138801"/>
            <a:ext cx="11216958" cy="4349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800" kern="1200" dirty="0">
                <a:gradFill flip="none" rotWithShape="1">
                  <a:gsLst>
                    <a:gs pos="88000">
                      <a:srgbClr val="0F99E2"/>
                    </a:gs>
                    <a:gs pos="1000">
                      <a:srgbClr val="4B0082"/>
                    </a:gs>
                  </a:gsLst>
                  <a:lin ang="13800000" scaled="0"/>
                  <a:tileRect/>
                </a:gradFill>
                <a:latin typeface="Source Sans Pro" panose="020B050303040302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Frutiger 45 bold"/>
                <a:sym typeface="Frutiger LT Pro 45 Light"/>
              </a:rPr>
              <a:t>Business Benefits Delivered (1/2)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7368DCF-BA27-53C7-8945-F3FF3E5B9F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6019352"/>
              </p:ext>
            </p:extLst>
          </p:nvPr>
        </p:nvGraphicFramePr>
        <p:xfrm>
          <a:off x="579619" y="939302"/>
          <a:ext cx="11032761" cy="5581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0148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68146-E6B4-A43D-6D65-3EA8F0F9C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Placeholder 1">
            <a:extLst>
              <a:ext uri="{FF2B5EF4-FFF2-40B4-BE49-F238E27FC236}">
                <a16:creationId xmlns:a16="http://schemas.microsoft.com/office/drawing/2014/main" id="{36E62217-8571-0FD2-1591-40F5F14410E4}"/>
              </a:ext>
            </a:extLst>
          </p:cNvPr>
          <p:cNvSpPr txBox="1">
            <a:spLocks/>
          </p:cNvSpPr>
          <p:nvPr/>
        </p:nvSpPr>
        <p:spPr>
          <a:xfrm>
            <a:off x="303850" y="813629"/>
            <a:ext cx="11125200" cy="43497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F5B239D-3D53-3745-FDE3-7EBEC4ECAA61}"/>
              </a:ext>
            </a:extLst>
          </p:cNvPr>
          <p:cNvSpPr txBox="1">
            <a:spLocks/>
          </p:cNvSpPr>
          <p:nvPr/>
        </p:nvSpPr>
        <p:spPr>
          <a:xfrm>
            <a:off x="270101" y="138801"/>
            <a:ext cx="11216958" cy="4349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828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800" kern="1200" dirty="0">
                <a:gradFill flip="none" rotWithShape="1">
                  <a:gsLst>
                    <a:gs pos="88000">
                      <a:srgbClr val="0F99E2"/>
                    </a:gs>
                    <a:gs pos="1000">
                      <a:srgbClr val="4B0082"/>
                    </a:gs>
                  </a:gsLst>
                  <a:lin ang="13800000" scaled="0"/>
                  <a:tileRect/>
                </a:gradFill>
                <a:latin typeface="Source Sans Pro" panose="020B050303040302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Frutiger 45 bold"/>
                <a:sym typeface="Frutiger LT Pro 45 Light"/>
              </a:rPr>
              <a:t>Business Benefits Delivered (2/2)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CCE6CF3-A1B6-C5F4-A7E3-31F1A021C3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397340"/>
              </p:ext>
            </p:extLst>
          </p:nvPr>
        </p:nvGraphicFramePr>
        <p:xfrm>
          <a:off x="579619" y="939302"/>
          <a:ext cx="11032761" cy="5581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43991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E236A-E139-6EBD-0B36-137A6080C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C2D8CB3-1597-2205-7D8B-0B4152796750}"/>
              </a:ext>
            </a:extLst>
          </p:cNvPr>
          <p:cNvGrpSpPr/>
          <p:nvPr/>
        </p:nvGrpSpPr>
        <p:grpSpPr>
          <a:xfrm>
            <a:off x="1106270" y="2494563"/>
            <a:ext cx="5144439" cy="1894523"/>
            <a:chOff x="2209800" y="5314050"/>
            <a:chExt cx="5144439" cy="189452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4587E1-99D9-B11A-890C-AB712121B63F}"/>
                </a:ext>
              </a:extLst>
            </p:cNvPr>
            <p:cNvSpPr txBox="1"/>
            <p:nvPr/>
          </p:nvSpPr>
          <p:spPr>
            <a:xfrm>
              <a:off x="2209800" y="5314050"/>
              <a:ext cx="4517390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1200" cap="none" spc="0" normalizeH="0" baseline="0" noProof="0">
                  <a:ln>
                    <a:noFill/>
                  </a:ln>
                  <a:solidFill>
                    <a:srgbClr val="22CCFA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Getting to the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03036BB-4BE8-9256-5CC5-8ACFB93C999E}"/>
                </a:ext>
              </a:extLst>
            </p:cNvPr>
            <p:cNvSpPr txBox="1"/>
            <p:nvPr/>
          </p:nvSpPr>
          <p:spPr>
            <a:xfrm>
              <a:off x="2209800" y="5615080"/>
              <a:ext cx="4517390" cy="841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1" u="none" strike="noStrike" kern="1200" cap="none" spc="0" normalizeH="0" baseline="0" noProof="0">
                  <a:ln>
                    <a:noFill/>
                  </a:ln>
                  <a:solidFill>
                    <a:srgbClr val="22CCFA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Future. Faster.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396D9B7-F6B3-004B-9776-404CDD67C9BE}"/>
                </a:ext>
              </a:extLst>
            </p:cNvPr>
            <p:cNvSpPr txBox="1"/>
            <p:nvPr/>
          </p:nvSpPr>
          <p:spPr>
            <a:xfrm>
              <a:off x="2836849" y="6090318"/>
              <a:ext cx="4517390" cy="11182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l" defTabSz="1828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1200" cap="none" spc="0" normalizeH="0" baseline="0" noProof="0">
                  <a:ln>
                    <a:noFill/>
                  </a:ln>
                  <a:gradFill flip="none" rotWithShape="1">
                    <a:gsLst>
                      <a:gs pos="88000">
                        <a:srgbClr val="22CCFA"/>
                      </a:gs>
                      <a:gs pos="0">
                        <a:srgbClr val="A52DFF"/>
                      </a:gs>
                    </a:gsLst>
                    <a:lin ang="13800000" scaled="0"/>
                    <a:tileRect/>
                  </a:gradFill>
                  <a:effectLst/>
                  <a:uLnTx/>
                  <a:uFillTx/>
                  <a:latin typeface="Source Sans Pro Light" panose="020B0403030403020204" pitchFamily="34" charset="0"/>
                  <a:ea typeface="+mn-ea"/>
                  <a:cs typeface="Calibri" panose="020F0502020204030204" pitchFamily="34" charset="0"/>
                  <a:sym typeface="Frutiger LT Pro 45 Light"/>
                </a:rPr>
                <a:t>Together.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D020FA6-EA6F-6C64-2D48-5FAEF3695467}"/>
              </a:ext>
            </a:extLst>
          </p:cNvPr>
          <p:cNvGrpSpPr/>
          <p:nvPr/>
        </p:nvGrpSpPr>
        <p:grpSpPr>
          <a:xfrm>
            <a:off x="3206864" y="4198588"/>
            <a:ext cx="3379958" cy="190498"/>
            <a:chOff x="934232" y="4094082"/>
            <a:chExt cx="3379958" cy="190498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2816FAB4-D524-0EAB-8BBB-0B1944372064}"/>
                </a:ext>
              </a:extLst>
            </p:cNvPr>
            <p:cNvCxnSpPr>
              <a:cxnSpLocks/>
              <a:endCxn id="4" idx="2"/>
            </p:cNvCxnSpPr>
            <p:nvPr/>
          </p:nvCxnSpPr>
          <p:spPr>
            <a:xfrm>
              <a:off x="934232" y="4189331"/>
              <a:ext cx="3189458" cy="0"/>
            </a:xfrm>
            <a:prstGeom prst="line">
              <a:avLst/>
            </a:prstGeom>
            <a:ln w="28575" cap="rnd">
              <a:solidFill>
                <a:srgbClr val="22CCFA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9E80804-36BB-466D-7E5B-E4B226416372}"/>
                </a:ext>
              </a:extLst>
            </p:cNvPr>
            <p:cNvSpPr/>
            <p:nvPr/>
          </p:nvSpPr>
          <p:spPr>
            <a:xfrm>
              <a:off x="4123690" y="4094082"/>
              <a:ext cx="190500" cy="190498"/>
            </a:xfrm>
            <a:prstGeom prst="ellipse">
              <a:avLst/>
            </a:prstGeom>
            <a:solidFill>
              <a:srgbClr val="22CC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2759364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4_Office Theme">
  <a:themeElements>
    <a:clrScheme name="LM">
      <a:dk1>
        <a:srgbClr val="595959"/>
      </a:dk1>
      <a:lt1>
        <a:srgbClr val="FFFFFF"/>
      </a:lt1>
      <a:dk2>
        <a:srgbClr val="000000"/>
      </a:dk2>
      <a:lt2>
        <a:srgbClr val="FFFFFF"/>
      </a:lt2>
      <a:accent1>
        <a:srgbClr val="BCD9F3"/>
      </a:accent1>
      <a:accent2>
        <a:srgbClr val="97C4EC"/>
      </a:accent2>
      <a:accent3>
        <a:srgbClr val="60A5E2"/>
      </a:accent3>
      <a:accent4>
        <a:srgbClr val="EF7C00"/>
      </a:accent4>
      <a:accent5>
        <a:srgbClr val="C8CA05"/>
      </a:accent5>
      <a:accent6>
        <a:srgbClr val="33682B"/>
      </a:accent6>
      <a:hlink>
        <a:srgbClr val="64B3E3"/>
      </a:hlink>
      <a:folHlink>
        <a:srgbClr val="004683"/>
      </a:folHlink>
    </a:clrScheme>
    <a:fontScheme name="Frutiger">
      <a:majorFont>
        <a:latin typeface="Frutiger 45 bold"/>
        <a:ea typeface=""/>
        <a:cs typeface=""/>
      </a:majorFont>
      <a:minorFont>
        <a:latin typeface="Frutiger 4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sFor_Spectra.potx" id="{D243AE31-2911-4724-A6B0-9DF4D975FB8C}" vid="{DF7EB32A-31C2-4AB8-91DF-BF0AD935DC3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1180</Words>
  <Application>Microsoft Office PowerPoint</Application>
  <PresentationFormat>Widescreen</PresentationFormat>
  <Paragraphs>151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Frutiger 45 bold</vt:lpstr>
      <vt:lpstr>Frutiger 45 Light</vt:lpstr>
      <vt:lpstr>Frutiger LT Pro 45 Light</vt:lpstr>
      <vt:lpstr>Source Sans Pro</vt:lpstr>
      <vt:lpstr>Source Sans Pro Light</vt:lpstr>
      <vt:lpstr>Symbol</vt:lpstr>
      <vt:lpstr>Wingdings</vt:lpstr>
      <vt:lpstr>1_Office Theme</vt:lpstr>
      <vt:lpstr>4_Office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Malik</dc:creator>
  <cp:lastModifiedBy>Kusal Dutta</cp:lastModifiedBy>
  <cp:revision>3</cp:revision>
  <dcterms:created xsi:type="dcterms:W3CDTF">2025-07-24T06:22:41Z</dcterms:created>
  <dcterms:modified xsi:type="dcterms:W3CDTF">2025-08-11T11:19:34Z</dcterms:modified>
</cp:coreProperties>
</file>